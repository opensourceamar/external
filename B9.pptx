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5"/>
  </p:notesMasterIdLst>
  <p:sldIdLst>
    <p:sldId id="256" r:id="rId2"/>
    <p:sldId id="257" r:id="rId3"/>
    <p:sldId id="298" r:id="rId4"/>
    <p:sldId id="29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053BA3-8234-47B2-B54B-D48EE60EED42}">
  <a:tblStyle styleId="{3E053BA3-8234-47B2-B54B-D48EE60EED4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d74cc00dd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d74cc00dd7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3d74cc00dd7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e00965f51c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e00965f51c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3e00965f51c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e00965f51c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e00965f51c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g3e00965f51c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e00965f51c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e00965f51c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3e00965f51c_0_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e00965f51c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e00965f51c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g3e00965f51c_0_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e00965f51c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e00965f51c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e00965f51c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dca3c0807a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dca3c0807a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g3dca3c0807a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e00965f51c_0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e00965f51c_0_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g3e00965f51c_0_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e00965f51c_0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e00965f51c_0_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3e00965f51c_0_8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e00965f51c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e00965f51c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3e00965f51c_0_1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e00965f51c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e00965f51c_0_8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g3e00965f51c_0_8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d74cc00dd7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d74cc00dd7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3d74cc00dd7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drive.google.com/file/d/10WCRglF8TDvaNkaZ_u505I5chxTkLH-H/view?usp=sharin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mazaika.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subTitle" idx="1"/>
          </p:nvPr>
        </p:nvSpPr>
        <p:spPr>
          <a:xfrm>
            <a:off x="2019300" y="3733800"/>
            <a:ext cx="8153401" cy="1752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ct val="100000"/>
              <a:buNone/>
            </a:pPr>
            <a:r>
              <a:rPr lang="en-US"/>
              <a:t>Presented by</a:t>
            </a:r>
            <a:endParaRPr/>
          </a:p>
          <a:p>
            <a:pPr marL="0" lvl="0" indent="0" algn="ctr" rtl="0">
              <a:lnSpc>
                <a:spcPct val="90000"/>
              </a:lnSpc>
              <a:spcBef>
                <a:spcPts val="1000"/>
              </a:spcBef>
              <a:spcAft>
                <a:spcPts val="0"/>
              </a:spcAft>
              <a:buClr>
                <a:schemeClr val="dk1"/>
              </a:buClr>
              <a:buSzPct val="100000"/>
              <a:buNone/>
            </a:pPr>
            <a:r>
              <a:rPr lang="en-US"/>
              <a:t>ANKEM AMARNATH-(228W1A1269)</a:t>
            </a:r>
            <a:endParaRPr/>
          </a:p>
          <a:p>
            <a:pPr marL="0" lvl="0" indent="0" algn="ctr" rtl="0">
              <a:lnSpc>
                <a:spcPct val="90000"/>
              </a:lnSpc>
              <a:spcBef>
                <a:spcPts val="1000"/>
              </a:spcBef>
              <a:spcAft>
                <a:spcPts val="0"/>
              </a:spcAft>
              <a:buClr>
                <a:schemeClr val="dk1"/>
              </a:buClr>
              <a:buSzPct val="100000"/>
              <a:buNone/>
            </a:pPr>
            <a:r>
              <a:rPr lang="en-US"/>
              <a:t>Jagannadham Sri Bhargav -(228W1A1291)</a:t>
            </a:r>
            <a:endParaRPr/>
          </a:p>
          <a:p>
            <a:pPr marL="0" lvl="0" indent="0" algn="ctr" rtl="0">
              <a:lnSpc>
                <a:spcPct val="90000"/>
              </a:lnSpc>
              <a:spcBef>
                <a:spcPts val="1000"/>
              </a:spcBef>
              <a:spcAft>
                <a:spcPts val="0"/>
              </a:spcAft>
              <a:buClr>
                <a:schemeClr val="dk1"/>
              </a:buClr>
              <a:buSzPct val="100000"/>
              <a:buNone/>
            </a:pPr>
            <a:endParaRPr/>
          </a:p>
          <a:p>
            <a:pPr marL="0" lvl="0" indent="0" algn="ctr" rtl="0">
              <a:lnSpc>
                <a:spcPct val="90000"/>
              </a:lnSpc>
              <a:spcBef>
                <a:spcPts val="1000"/>
              </a:spcBef>
              <a:spcAft>
                <a:spcPts val="0"/>
              </a:spcAft>
              <a:buClr>
                <a:schemeClr val="dk1"/>
              </a:buClr>
              <a:buSzPct val="100000"/>
              <a:buNone/>
            </a:pPr>
            <a:endParaRPr/>
          </a:p>
        </p:txBody>
      </p:sp>
      <p:pic>
        <p:nvPicPr>
          <p:cNvPr id="89" name="Google Shape;89;p13"/>
          <p:cNvPicPr preferRelativeResize="0"/>
          <p:nvPr/>
        </p:nvPicPr>
        <p:blipFill rotWithShape="1">
          <a:blip r:embed="rId3">
            <a:alphaModFix/>
          </a:blip>
          <a:srcRect/>
          <a:stretch/>
        </p:blipFill>
        <p:spPr>
          <a:xfrm>
            <a:off x="1828802" y="353065"/>
            <a:ext cx="1600199" cy="866135"/>
          </a:xfrm>
          <a:prstGeom prst="rect">
            <a:avLst/>
          </a:prstGeom>
          <a:noFill/>
          <a:ln>
            <a:noFill/>
          </a:ln>
        </p:spPr>
      </p:pic>
      <p:pic>
        <p:nvPicPr>
          <p:cNvPr id="90" name="Google Shape;90;p13" descr="Image result for vrsec"/>
          <p:cNvPicPr preferRelativeResize="0"/>
          <p:nvPr/>
        </p:nvPicPr>
        <p:blipFill rotWithShape="1">
          <a:blip r:embed="rId4">
            <a:alphaModFix/>
          </a:blip>
          <a:srcRect/>
          <a:stretch/>
        </p:blipFill>
        <p:spPr>
          <a:xfrm>
            <a:off x="9220200" y="92669"/>
            <a:ext cx="1068572" cy="1241967"/>
          </a:xfrm>
          <a:prstGeom prst="rect">
            <a:avLst/>
          </a:prstGeom>
          <a:noFill/>
          <a:ln>
            <a:noFill/>
          </a:ln>
        </p:spPr>
      </p:pic>
      <p:sp>
        <p:nvSpPr>
          <p:cNvPr id="91" name="Google Shape;91;p13"/>
          <p:cNvSpPr txBox="1"/>
          <p:nvPr/>
        </p:nvSpPr>
        <p:spPr>
          <a:xfrm>
            <a:off x="3446721" y="267371"/>
            <a:ext cx="5486400" cy="758857"/>
          </a:xfrm>
          <a:prstGeom prst="rect">
            <a:avLst/>
          </a:prstGeom>
          <a:noFill/>
          <a:ln>
            <a:noFill/>
          </a:ln>
        </p:spPr>
        <p:txBody>
          <a:bodyPr spcFirstLastPara="1" wrap="square" lIns="19975" tIns="9975" rIns="19975" bIns="9975" anchor="t" anchorCtr="0">
            <a:spAutoFit/>
          </a:bodyPr>
          <a:lstStyle/>
          <a:p>
            <a:pPr marL="0" marR="0" lvl="0" indent="0" algn="ctr" rtl="0">
              <a:spcBef>
                <a:spcPts val="0"/>
              </a:spcBef>
              <a:spcAft>
                <a:spcPts val="0"/>
              </a:spcAft>
              <a:buNone/>
            </a:pPr>
            <a:r>
              <a:rPr lang="en-US" sz="2400" b="1" i="0" u="none" strike="noStrike" cap="none">
                <a:solidFill>
                  <a:srgbClr val="0000FF"/>
                </a:solidFill>
                <a:latin typeface="Calibri"/>
                <a:ea typeface="Calibri"/>
                <a:cs typeface="Calibri"/>
                <a:sym typeface="Calibri"/>
              </a:rPr>
              <a:t>Department of Information Technology</a:t>
            </a:r>
            <a:endParaRPr sz="2400" b="1" i="0" u="none" strike="noStrike" cap="none">
              <a:solidFill>
                <a:srgbClr val="0000FF"/>
              </a:solidFill>
              <a:latin typeface="Calibri"/>
              <a:ea typeface="Calibri"/>
              <a:cs typeface="Calibri"/>
              <a:sym typeface="Calibri"/>
            </a:endParaRPr>
          </a:p>
          <a:p>
            <a:pPr marL="0" marR="0" lvl="0" indent="0" algn="ctr" rtl="0">
              <a:spcBef>
                <a:spcPts val="0"/>
              </a:spcBef>
              <a:spcAft>
                <a:spcPts val="0"/>
              </a:spcAft>
              <a:buNone/>
            </a:pPr>
            <a:r>
              <a:rPr lang="en-US" sz="2400" b="1" i="0" u="none" strike="noStrike" cap="none">
                <a:solidFill>
                  <a:srgbClr val="FF0000"/>
                </a:solidFill>
                <a:latin typeface="Calibri"/>
                <a:ea typeface="Calibri"/>
                <a:cs typeface="Calibri"/>
                <a:sym typeface="Calibri"/>
              </a:rPr>
              <a:t>V R Siddhartha Engineering College </a:t>
            </a:r>
            <a:endParaRPr sz="2400" b="1" i="0" u="none" strike="noStrike" cap="none">
              <a:solidFill>
                <a:srgbClr val="FF0000"/>
              </a:solidFill>
              <a:latin typeface="Calibri"/>
              <a:ea typeface="Calibri"/>
              <a:cs typeface="Calibri"/>
              <a:sym typeface="Calibri"/>
            </a:endParaRPr>
          </a:p>
        </p:txBody>
      </p:sp>
      <p:sp>
        <p:nvSpPr>
          <p:cNvPr id="92" name="Google Shape;92;p13"/>
          <p:cNvSpPr txBox="1"/>
          <p:nvPr/>
        </p:nvSpPr>
        <p:spPr>
          <a:xfrm>
            <a:off x="3561021" y="2819400"/>
            <a:ext cx="5257800" cy="7067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FF0000"/>
                </a:solidFill>
                <a:latin typeface="Calibri"/>
                <a:ea typeface="Calibri"/>
                <a:cs typeface="Calibri"/>
                <a:sym typeface="Calibri"/>
              </a:rPr>
              <a:t>B.Tech in Information Technology</a:t>
            </a:r>
            <a:endParaRPr sz="20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r>
              <a:rPr lang="en-US" sz="2000" b="1" i="0" u="none" strike="noStrike" cap="none">
                <a:solidFill>
                  <a:srgbClr val="BF11A6"/>
                </a:solidFill>
                <a:latin typeface="Calibri"/>
                <a:ea typeface="Calibri"/>
                <a:cs typeface="Calibri"/>
                <a:sym typeface="Calibri"/>
              </a:rPr>
              <a:t>Major Project Review Presentation</a:t>
            </a:r>
            <a:endParaRPr sz="2000" b="1" i="0" u="none" strike="noStrike" cap="none">
              <a:solidFill>
                <a:srgbClr val="BF11A6"/>
              </a:solidFill>
              <a:latin typeface="Calibri"/>
              <a:ea typeface="Calibri"/>
              <a:cs typeface="Calibri"/>
              <a:sym typeface="Calibri"/>
            </a:endParaRPr>
          </a:p>
        </p:txBody>
      </p:sp>
      <p:sp>
        <p:nvSpPr>
          <p:cNvPr id="93" name="Google Shape;93;p13"/>
          <p:cNvSpPr/>
          <p:nvPr/>
        </p:nvSpPr>
        <p:spPr>
          <a:xfrm>
            <a:off x="3903921" y="5638801"/>
            <a:ext cx="4572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0" i="0" u="none" strike="noStrike" cap="none">
                <a:solidFill>
                  <a:schemeClr val="dk1"/>
                </a:solidFill>
                <a:latin typeface="Calibri"/>
                <a:ea typeface="Calibri"/>
                <a:cs typeface="Calibri"/>
                <a:sym typeface="Calibri"/>
              </a:rPr>
              <a:t>Under the guidance of </a:t>
            </a:r>
            <a:endParaRPr sz="16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  </a:t>
            </a:r>
            <a:r>
              <a:rPr lang="en-US" sz="2000" b="1" i="0" u="none" strike="noStrike" cap="none">
                <a:solidFill>
                  <a:srgbClr val="FF0000"/>
                </a:solidFill>
                <a:latin typeface="Calibri"/>
                <a:ea typeface="Calibri"/>
                <a:cs typeface="Calibri"/>
                <a:sym typeface="Calibri"/>
              </a:rPr>
              <a:t>Mrs</a:t>
            </a:r>
            <a:r>
              <a:rPr lang="en-US" sz="2000" b="0" i="0" u="none" strike="noStrike" cap="none">
                <a:solidFill>
                  <a:schemeClr val="dk1"/>
                </a:solidFill>
                <a:latin typeface="Calibri"/>
                <a:ea typeface="Calibri"/>
                <a:cs typeface="Calibri"/>
                <a:sym typeface="Calibri"/>
              </a:rPr>
              <a:t> </a:t>
            </a:r>
            <a:r>
              <a:rPr lang="en-US" sz="2000" b="1" i="0" u="none" strike="noStrike" cap="none">
                <a:solidFill>
                  <a:srgbClr val="FF0000"/>
                </a:solidFill>
                <a:latin typeface="Calibri"/>
                <a:ea typeface="Calibri"/>
                <a:cs typeface="Calibri"/>
                <a:sym typeface="Calibri"/>
              </a:rPr>
              <a:t>P.Ramadevi </a:t>
            </a:r>
            <a:r>
              <a:rPr lang="en-US" sz="2000" b="0" i="0" u="none" strike="noStrike" cap="none">
                <a:solidFill>
                  <a:srgbClr val="FF0000"/>
                </a:solidFill>
                <a:latin typeface="Calibri"/>
                <a:ea typeface="Calibri"/>
                <a:cs typeface="Calibri"/>
                <a:sym typeface="Calibri"/>
              </a:rPr>
              <a:t>(phd)</a:t>
            </a:r>
            <a:r>
              <a:rPr lang="en-US" sz="1800" b="1" i="0" u="none" strike="noStrike" cap="none">
                <a:solidFill>
                  <a:srgbClr val="FF0000"/>
                </a:solidFill>
                <a:latin typeface="Calibri"/>
                <a:ea typeface="Calibri"/>
                <a:cs typeface="Calibri"/>
                <a:sym typeface="Calibri"/>
              </a:rPr>
              <a:t>Asst.Prof</a:t>
            </a:r>
            <a:endParaRPr sz="2000" b="1" i="0" u="none" strike="noStrike" cap="none">
              <a:solidFill>
                <a:srgbClr val="FF0000"/>
              </a:solidFill>
              <a:latin typeface="Calibri"/>
              <a:ea typeface="Calibri"/>
              <a:cs typeface="Calibri"/>
              <a:sym typeface="Calibri"/>
            </a:endParaRPr>
          </a:p>
        </p:txBody>
      </p:sp>
      <p:sp>
        <p:nvSpPr>
          <p:cNvPr id="94" name="Google Shape;9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95" name="Google Shape;95;p13"/>
          <p:cNvSpPr txBox="1">
            <a:spLocks noGrp="1"/>
          </p:cNvSpPr>
          <p:nvPr>
            <p:ph type="ctrTitle"/>
          </p:nvPr>
        </p:nvSpPr>
        <p:spPr>
          <a:xfrm>
            <a:off x="1123622" y="1541150"/>
            <a:ext cx="10132597" cy="892552"/>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0" u="none" strike="noStrike" cap="none" dirty="0">
                <a:solidFill>
                  <a:schemeClr val="dk1"/>
                </a:solidFill>
                <a:latin typeface="Arial"/>
                <a:ea typeface="Arial"/>
                <a:cs typeface="Arial"/>
                <a:sym typeface="Arial"/>
              </a:rPr>
              <a:t>          </a:t>
            </a:r>
            <a:r>
              <a:rPr lang="en-US" sz="3200" b="1" dirty="0"/>
              <a:t>Mosaic Art Using Pyraminx: Patterns and Symmetry</a:t>
            </a:r>
            <a:br>
              <a:rPr lang="en-US" sz="3200" b="1" dirty="0"/>
            </a:br>
            <a:r>
              <a:rPr lang="en-US" sz="2000" b="1" dirty="0"/>
              <a:t>                                                                      </a:t>
            </a:r>
            <a:r>
              <a:rPr lang="en-US" sz="2000" dirty="0">
                <a:solidFill>
                  <a:schemeClr val="accent6"/>
                </a:solidFill>
              </a:rPr>
              <a:t>computer vision </a:t>
            </a:r>
            <a:endParaRPr sz="3200" i="0" u="none" strike="noStrike" cap="none" dirty="0">
              <a:solidFill>
                <a:schemeClr val="accent6"/>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a:spLocks noGrp="1"/>
          </p:cNvSpPr>
          <p:nvPr>
            <p:ph type="title"/>
          </p:nvPr>
        </p:nvSpPr>
        <p:spPr>
          <a:xfrm>
            <a:off x="653005" y="0"/>
            <a:ext cx="10515600" cy="10719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US" sz="3200" b="1">
                <a:latin typeface="Times New Roman"/>
                <a:ea typeface="Times New Roman"/>
                <a:cs typeface="Times New Roman"/>
                <a:sym typeface="Times New Roman"/>
              </a:rPr>
              <a:t>   Agenda:</a:t>
            </a:r>
            <a:endParaRPr sz="3200" b="1">
              <a:latin typeface="Times New Roman"/>
              <a:ea typeface="Times New Roman"/>
              <a:cs typeface="Times New Roman"/>
              <a:sym typeface="Times New Roman"/>
            </a:endParaRPr>
          </a:p>
        </p:txBody>
      </p:sp>
      <p:sp>
        <p:nvSpPr>
          <p:cNvPr id="101" name="Google Shape;101;p14"/>
          <p:cNvSpPr txBox="1">
            <a:spLocks noGrp="1"/>
          </p:cNvSpPr>
          <p:nvPr>
            <p:ph type="body" idx="1"/>
          </p:nvPr>
        </p:nvSpPr>
        <p:spPr>
          <a:xfrm>
            <a:off x="838200" y="924214"/>
            <a:ext cx="9915939" cy="4979630"/>
          </a:xfrm>
          <a:prstGeom prst="rect">
            <a:avLst/>
          </a:prstGeom>
          <a:noFill/>
          <a:ln>
            <a:noFill/>
          </a:ln>
        </p:spPr>
        <p:txBody>
          <a:bodyPr spcFirstLastPara="1" wrap="square" lIns="91425" tIns="45700" rIns="91425" bIns="45700" anchor="t" anchorCtr="0">
            <a:normAutofit fontScale="32500" lnSpcReduction="20000"/>
          </a:bodyPr>
          <a:lstStyle/>
          <a:p>
            <a:pPr marL="457200" lvl="0" indent="-342900" algn="l" rtl="0">
              <a:lnSpc>
                <a:spcPct val="150000"/>
              </a:lnSpc>
              <a:spcBef>
                <a:spcPts val="1000"/>
              </a:spcBef>
              <a:spcAft>
                <a:spcPts val="0"/>
              </a:spcAft>
              <a:buSzPct val="100000"/>
              <a:buFont typeface="Times New Roman"/>
              <a:buChar char="•"/>
            </a:pPr>
            <a:r>
              <a:rPr lang="en-US" sz="7200">
                <a:latin typeface="Times New Roman"/>
                <a:ea typeface="Times New Roman"/>
                <a:cs typeface="Times New Roman"/>
                <a:sym typeface="Times New Roman"/>
              </a:rPr>
              <a:t>Introduction and Problem Statement</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Objectives and Outcomes of the Project</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Literature review and Summary</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Dataset and Requirements</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Algorithms used in the Project</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Architecture/Project flow diagram</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Implementation steps and Execution</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Results Obtained</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Result analysis with charts</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Conclusion and Future work</a:t>
            </a:r>
            <a:endParaRPr sz="7200">
              <a:latin typeface="Times New Roman"/>
              <a:ea typeface="Times New Roman"/>
              <a:cs typeface="Times New Roman"/>
              <a:sym typeface="Times New Roman"/>
            </a:endParaRPr>
          </a:p>
          <a:p>
            <a:pPr marL="457200" lvl="0" indent="-342900" algn="l" rtl="0">
              <a:lnSpc>
                <a:spcPct val="150000"/>
              </a:lnSpc>
              <a:spcBef>
                <a:spcPts val="0"/>
              </a:spcBef>
              <a:spcAft>
                <a:spcPts val="0"/>
              </a:spcAft>
              <a:buSzPct val="100000"/>
              <a:buFont typeface="Times New Roman"/>
              <a:buChar char="•"/>
            </a:pPr>
            <a:r>
              <a:rPr lang="en-US" sz="7200">
                <a:latin typeface="Times New Roman"/>
                <a:ea typeface="Times New Roman"/>
                <a:cs typeface="Times New Roman"/>
                <a:sym typeface="Times New Roman"/>
              </a:rPr>
              <a:t>References</a:t>
            </a:r>
            <a:endParaRPr sz="7200">
              <a:latin typeface="Times New Roman"/>
              <a:ea typeface="Times New Roman"/>
              <a:cs typeface="Times New Roman"/>
              <a:sym typeface="Times New Roman"/>
            </a:endParaRPr>
          </a:p>
          <a:p>
            <a:pPr marL="0" lvl="0" indent="0" algn="l" rtl="0">
              <a:lnSpc>
                <a:spcPct val="150000"/>
              </a:lnSpc>
              <a:spcBef>
                <a:spcPts val="1000"/>
              </a:spcBef>
              <a:spcAft>
                <a:spcPts val="0"/>
              </a:spcAft>
              <a:buNone/>
            </a:pPr>
            <a:endParaRPr sz="2400">
              <a:latin typeface="Times New Roman"/>
              <a:ea typeface="Times New Roman"/>
              <a:cs typeface="Times New Roman"/>
              <a:sym typeface="Times New Roman"/>
            </a:endParaRPr>
          </a:p>
          <a:p>
            <a:pPr marL="342900" lvl="0" indent="-190500" algn="l" rtl="0">
              <a:lnSpc>
                <a:spcPct val="150000"/>
              </a:lnSpc>
              <a:spcBef>
                <a:spcPts val="1000"/>
              </a:spcBef>
              <a:spcAft>
                <a:spcPts val="0"/>
              </a:spcAft>
              <a:buClr>
                <a:schemeClr val="dk1"/>
              </a:buClr>
              <a:buSzPct val="125000"/>
              <a:buFont typeface="Arial"/>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6969F-ED9B-49BE-A132-EB80B747C0F8}"/>
              </a:ext>
            </a:extLst>
          </p:cNvPr>
          <p:cNvSpPr>
            <a:spLocks noGrp="1"/>
          </p:cNvSpPr>
          <p:nvPr>
            <p:ph type="title"/>
          </p:nvPr>
        </p:nvSpPr>
        <p:spPr>
          <a:xfrm>
            <a:off x="838200" y="365125"/>
            <a:ext cx="10515600" cy="1067749"/>
          </a:xfrm>
        </p:spPr>
        <p:txBody>
          <a:bodyPr/>
          <a:lstStyle/>
          <a:p>
            <a:r>
              <a:rPr lang="en-US" b="1" dirty="0">
                <a:latin typeface="Times New Roman" panose="02020603050405020304" pitchFamily="18" charset="0"/>
                <a:cs typeface="Times New Roman" panose="02020603050405020304" pitchFamily="18" charset="0"/>
              </a:rPr>
              <a:t>Introduction and Problem Statement</a:t>
            </a:r>
            <a:endParaRPr lang="en-AS" dirty="0"/>
          </a:p>
        </p:txBody>
      </p:sp>
      <p:sp>
        <p:nvSpPr>
          <p:cNvPr id="3" name="Content Placeholder 2">
            <a:extLst>
              <a:ext uri="{FF2B5EF4-FFF2-40B4-BE49-F238E27FC236}">
                <a16:creationId xmlns:a16="http://schemas.microsoft.com/office/drawing/2014/main" id="{B0991B33-CF7A-4D67-847E-B34DBB20246A}"/>
              </a:ext>
            </a:extLst>
          </p:cNvPr>
          <p:cNvSpPr>
            <a:spLocks noGrp="1"/>
          </p:cNvSpPr>
          <p:nvPr>
            <p:ph idx="1"/>
          </p:nvPr>
        </p:nvSpPr>
        <p:spPr>
          <a:xfrm>
            <a:off x="838200" y="1432874"/>
            <a:ext cx="10515600" cy="4744089"/>
          </a:xfrm>
        </p:spPr>
        <p:txBody>
          <a:bodyPr>
            <a:normAutofit fontScale="85000" lnSpcReduction="10000"/>
          </a:bodyPr>
          <a:lstStyle/>
          <a:p>
            <a:pPr marL="0" indent="0">
              <a:buNone/>
            </a:pPr>
            <a:r>
              <a:rPr lang="en-IN" sz="2200" b="1" dirty="0"/>
              <a:t>Introduction:</a:t>
            </a:r>
          </a:p>
          <a:p>
            <a:pPr algn="just">
              <a:lnSpc>
                <a:spcPct val="150000"/>
              </a:lnSpc>
            </a:pPr>
            <a:r>
              <a:rPr lang="en-US" sz="2200" dirty="0"/>
              <a:t>The Pyraminx Mosaic Art Generator is a specialized tool that converts any digital image into a blueprint for a physical mosaic. Unlike standard pixel art, this project uses equilateral triangles and is strictly limited to the four colors of a Pyraminx puzzle.</a:t>
            </a:r>
            <a:r>
              <a:rPr lang="en-US" sz="2400" dirty="0">
                <a:latin typeface="Times New Roman"/>
                <a:ea typeface="Times New Roman"/>
                <a:cs typeface="Times New Roman"/>
                <a:sym typeface="Times New Roman"/>
              </a:rPr>
              <a:t> . It’s designed for "cubing" artists who want to build massive installations using hundreds of physical puzzles. </a:t>
            </a:r>
            <a:endParaRPr lang="en-US" sz="2200" b="1" dirty="0"/>
          </a:p>
          <a:p>
            <a:pPr algn="just">
              <a:lnSpc>
                <a:spcPct val="150000"/>
              </a:lnSpc>
            </a:pPr>
            <a:r>
              <a:rPr lang="en-US" sz="2200" dirty="0"/>
              <a:t>Computers usually calculate color distance using the Euclidean formula in RGB space, which doesn't match how humans see. This project uses the CIE Lab color space and the CIEDE2000 algorithm.</a:t>
            </a:r>
            <a:endParaRPr lang="en-US" sz="2200" b="1" dirty="0"/>
          </a:p>
          <a:p>
            <a:pPr algn="just">
              <a:lnSpc>
                <a:spcPct val="150000"/>
              </a:lnSpc>
            </a:pPr>
            <a:r>
              <a:rPr lang="en-US" sz="2200" dirty="0"/>
              <a:t>Computers usually calculate color distance using the Euclidean formula in RGB space, which doesn't match how humans see. This project uses the CIE Lab color space and the CIEDE2000 algorithm.</a:t>
            </a:r>
            <a:br>
              <a:rPr lang="en-US" sz="2200" dirty="0"/>
            </a:br>
            <a:endParaRPr lang="en-US" sz="2200" dirty="0"/>
          </a:p>
        </p:txBody>
      </p:sp>
    </p:spTree>
    <p:extLst>
      <p:ext uri="{BB962C8B-B14F-4D97-AF65-F5344CB8AC3E}">
        <p14:creationId xmlns:p14="http://schemas.microsoft.com/office/powerpoint/2010/main" val="3362512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6969F-ED9B-49BE-A132-EB80B747C0F8}"/>
              </a:ext>
            </a:extLst>
          </p:cNvPr>
          <p:cNvSpPr>
            <a:spLocks noGrp="1"/>
          </p:cNvSpPr>
          <p:nvPr>
            <p:ph type="title"/>
          </p:nvPr>
        </p:nvSpPr>
        <p:spPr>
          <a:xfrm>
            <a:off x="838200" y="365125"/>
            <a:ext cx="10515600" cy="1067749"/>
          </a:xfrm>
        </p:spPr>
        <p:txBody>
          <a:bodyPr/>
          <a:lstStyle/>
          <a:p>
            <a:r>
              <a:rPr lang="en-US" b="1" dirty="0">
                <a:latin typeface="Times New Roman" panose="02020603050405020304" pitchFamily="18" charset="0"/>
                <a:cs typeface="Times New Roman" panose="02020603050405020304" pitchFamily="18" charset="0"/>
              </a:rPr>
              <a:t>Introduction and Problem Statement</a:t>
            </a:r>
            <a:endParaRPr lang="en-AS" dirty="0"/>
          </a:p>
        </p:txBody>
      </p:sp>
      <p:sp>
        <p:nvSpPr>
          <p:cNvPr id="3" name="Content Placeholder 2">
            <a:extLst>
              <a:ext uri="{FF2B5EF4-FFF2-40B4-BE49-F238E27FC236}">
                <a16:creationId xmlns:a16="http://schemas.microsoft.com/office/drawing/2014/main" id="{B0991B33-CF7A-4D67-847E-B34DBB20246A}"/>
              </a:ext>
            </a:extLst>
          </p:cNvPr>
          <p:cNvSpPr>
            <a:spLocks noGrp="1"/>
          </p:cNvSpPr>
          <p:nvPr>
            <p:ph idx="1"/>
          </p:nvPr>
        </p:nvSpPr>
        <p:spPr>
          <a:xfrm>
            <a:off x="838200" y="1432874"/>
            <a:ext cx="10515600" cy="4744089"/>
          </a:xfrm>
        </p:spPr>
        <p:txBody>
          <a:bodyPr>
            <a:normAutofit fontScale="92500"/>
          </a:bodyPr>
          <a:lstStyle/>
          <a:p>
            <a:pPr marL="0" indent="0">
              <a:buNone/>
            </a:pPr>
            <a:r>
              <a:rPr lang="en-IN" sz="2200" b="1" dirty="0"/>
              <a:t>Problem Statement:</a:t>
            </a:r>
          </a:p>
          <a:p>
            <a:pPr algn="just">
              <a:lnSpc>
                <a:spcPct val="150000"/>
              </a:lnSpc>
            </a:pPr>
            <a:r>
              <a:rPr lang="en-US" sz="2200" dirty="0"/>
              <a:t>The main objective of your project is to provide a complete, end-to-end technical pipeline for transforming digital photographs into large-scale, physical Pyraminx mosaic installations.</a:t>
            </a:r>
          </a:p>
          <a:p>
            <a:pPr algn="just">
              <a:lnSpc>
                <a:spcPct val="150000"/>
              </a:lnSpc>
            </a:pPr>
            <a:r>
              <a:rPr lang="en-US" sz="2200" dirty="0"/>
              <a:t>The system uses advanced image processing specifically CIEDE2000 perceptual color science and edge-aware sampling to convert a standard 16-million-color image into a 4-color triangular grid. The objective here is to maintain the "soul" and recognizability of the subject despite the extreme constraints of the Pyraminx palette.</a:t>
            </a:r>
          </a:p>
          <a:p>
            <a:pPr algn="just">
              <a:lnSpc>
                <a:spcPct val="150000"/>
              </a:lnSpc>
            </a:pPr>
            <a:r>
              <a:rPr lang="en-US" sz="2200" dirty="0"/>
              <a:t>The ultimate goal is to build it. The project automates the creation of a segmented PDF manual.</a:t>
            </a:r>
          </a:p>
        </p:txBody>
      </p:sp>
    </p:spTree>
    <p:extLst>
      <p:ext uri="{BB962C8B-B14F-4D97-AF65-F5344CB8AC3E}">
        <p14:creationId xmlns:p14="http://schemas.microsoft.com/office/powerpoint/2010/main" val="2694157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a:spLocks noGrp="1"/>
          </p:cNvSpPr>
          <p:nvPr>
            <p:ph type="title"/>
          </p:nvPr>
        </p:nvSpPr>
        <p:spPr>
          <a:xfrm>
            <a:off x="838200" y="9125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Arial"/>
                <a:ea typeface="Arial"/>
                <a:cs typeface="Arial"/>
                <a:sym typeface="Arial"/>
              </a:rPr>
              <a:t>Objectives and Outcomes:</a:t>
            </a:r>
            <a:endParaRPr sz="3200" b="1"/>
          </a:p>
        </p:txBody>
      </p:sp>
      <p:sp>
        <p:nvSpPr>
          <p:cNvPr id="120" name="Google Shape;120;p17"/>
          <p:cNvSpPr txBox="1">
            <a:spLocks noGrp="1"/>
          </p:cNvSpPr>
          <p:nvPr>
            <p:ph type="body" idx="1"/>
          </p:nvPr>
        </p:nvSpPr>
        <p:spPr>
          <a:xfrm>
            <a:off x="838200" y="1507925"/>
            <a:ext cx="10515600" cy="5350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b="1">
                <a:latin typeface="Times New Roman"/>
                <a:ea typeface="Times New Roman"/>
                <a:cs typeface="Times New Roman"/>
                <a:sym typeface="Times New Roman"/>
              </a:rPr>
              <a:t>Objectives:</a:t>
            </a:r>
            <a:endParaRPr sz="1800" b="1">
              <a:latin typeface="Times New Roman"/>
              <a:ea typeface="Times New Roman"/>
              <a:cs typeface="Times New Roman"/>
              <a:sym typeface="Times New Roman"/>
            </a:endParaRPr>
          </a:p>
          <a:p>
            <a:pPr marL="457200" lvl="0" indent="-342900" algn="l" rtl="0">
              <a:spcBef>
                <a:spcPts val="1000"/>
              </a:spcBef>
              <a:spcAft>
                <a:spcPts val="0"/>
              </a:spcAft>
              <a:buSzPts val="1800"/>
              <a:buFont typeface="Times New Roman"/>
              <a:buChar char="•"/>
            </a:pPr>
            <a:r>
              <a:rPr lang="en-US" sz="1800">
                <a:latin typeface="Times New Roman"/>
                <a:ea typeface="Times New Roman"/>
                <a:cs typeface="Times New Roman"/>
                <a:sym typeface="Times New Roman"/>
              </a:rPr>
              <a:t>To bridge the gap between digital design and physical construction by automatically generating segmented, coordinate-labeled assembly manuals.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To overcome the limitations of a strict 4-color palette by utilizing the CIEDE2000 algorithm in the CIE Lab color space, ensuring the output is visually accurate to human perception.</a:t>
            </a:r>
            <a:endParaRPr sz="1800">
              <a:latin typeface="Times New Roman"/>
              <a:ea typeface="Times New Roman"/>
              <a:cs typeface="Times New Roman"/>
              <a:sym typeface="Times New Roman"/>
            </a:endParaRPr>
          </a:p>
          <a:p>
            <a:pPr marL="457200" lvl="0" indent="0" algn="l" rtl="0">
              <a:spcBef>
                <a:spcPts val="1000"/>
              </a:spcBef>
              <a:spcAft>
                <a:spcPts val="0"/>
              </a:spcAft>
              <a:buNone/>
            </a:pPr>
            <a:endParaRPr sz="1800">
              <a:latin typeface="Times New Roman"/>
              <a:ea typeface="Times New Roman"/>
              <a:cs typeface="Times New Roman"/>
              <a:sym typeface="Times New Roman"/>
            </a:endParaRPr>
          </a:p>
          <a:p>
            <a:pPr marL="0" lvl="0" indent="0" algn="l" rtl="0">
              <a:spcBef>
                <a:spcPts val="1000"/>
              </a:spcBef>
              <a:spcAft>
                <a:spcPts val="0"/>
              </a:spcAft>
              <a:buNone/>
            </a:pPr>
            <a:r>
              <a:rPr lang="en-US" sz="1800" b="1">
                <a:latin typeface="Times New Roman"/>
                <a:ea typeface="Times New Roman"/>
                <a:cs typeface="Times New Roman"/>
                <a:sym typeface="Times New Roman"/>
              </a:rPr>
              <a:t>Outcomes:</a:t>
            </a:r>
            <a:endParaRPr sz="1800" b="1">
              <a:latin typeface="Times New Roman"/>
              <a:ea typeface="Times New Roman"/>
              <a:cs typeface="Times New Roman"/>
              <a:sym typeface="Times New Roman"/>
            </a:endParaRPr>
          </a:p>
          <a:p>
            <a:pPr marL="457200" lvl="0" indent="-342900" algn="l" rtl="0">
              <a:spcBef>
                <a:spcPts val="1000"/>
              </a:spcBef>
              <a:spcAft>
                <a:spcPts val="0"/>
              </a:spcAft>
              <a:buSzPts val="1800"/>
              <a:buFont typeface="Times New Roman"/>
              <a:buChar char="•"/>
            </a:pPr>
            <a:r>
              <a:rPr lang="en-US" sz="1800">
                <a:latin typeface="Times New Roman"/>
                <a:ea typeface="Times New Roman"/>
                <a:cs typeface="Times New Roman"/>
                <a:sym typeface="Times New Roman"/>
              </a:rPr>
              <a:t>A fully functional, responsive interface allowing users to upload images, adjust triangle density, and preview results in real-time.</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A dynamic PDF generator that produces multi-page building instructions, including a master grid map and individual segment sheets</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197128" y="-23122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n-US" sz="3200" b="1">
                <a:latin typeface="Times New Roman"/>
                <a:ea typeface="Times New Roman"/>
                <a:cs typeface="Times New Roman"/>
                <a:sym typeface="Times New Roman"/>
              </a:rPr>
              <a:t>Literature Survey:</a:t>
            </a:r>
            <a:endParaRPr sz="3200" b="1">
              <a:latin typeface="Times New Roman"/>
              <a:ea typeface="Times New Roman"/>
              <a:cs typeface="Times New Roman"/>
              <a:sym typeface="Times New Roman"/>
            </a:endParaRPr>
          </a:p>
        </p:txBody>
      </p:sp>
      <p:graphicFrame>
        <p:nvGraphicFramePr>
          <p:cNvPr id="126" name="Google Shape;126;p18"/>
          <p:cNvGraphicFramePr/>
          <p:nvPr/>
        </p:nvGraphicFramePr>
        <p:xfrm>
          <a:off x="197128" y="752200"/>
          <a:ext cx="11797800" cy="6595845"/>
        </p:xfrm>
        <a:graphic>
          <a:graphicData uri="http://schemas.openxmlformats.org/drawingml/2006/table">
            <a:tbl>
              <a:tblPr firstRow="1" bandRow="1">
                <a:noFill/>
                <a:tableStyleId>{3E053BA3-8234-47B2-B54B-D48EE60EED42}</a:tableStyleId>
              </a:tblPr>
              <a:tblGrid>
                <a:gridCol w="1474725">
                  <a:extLst>
                    <a:ext uri="{9D8B030D-6E8A-4147-A177-3AD203B41FA5}">
                      <a16:colId xmlns:a16="http://schemas.microsoft.com/office/drawing/2014/main" val="20000"/>
                    </a:ext>
                  </a:extLst>
                </a:gridCol>
                <a:gridCol w="660750">
                  <a:extLst>
                    <a:ext uri="{9D8B030D-6E8A-4147-A177-3AD203B41FA5}">
                      <a16:colId xmlns:a16="http://schemas.microsoft.com/office/drawing/2014/main" val="20001"/>
                    </a:ext>
                  </a:extLst>
                </a:gridCol>
                <a:gridCol w="2573600">
                  <a:extLst>
                    <a:ext uri="{9D8B030D-6E8A-4147-A177-3AD203B41FA5}">
                      <a16:colId xmlns:a16="http://schemas.microsoft.com/office/drawing/2014/main" val="20002"/>
                    </a:ext>
                  </a:extLst>
                </a:gridCol>
                <a:gridCol w="1189825">
                  <a:extLst>
                    <a:ext uri="{9D8B030D-6E8A-4147-A177-3AD203B41FA5}">
                      <a16:colId xmlns:a16="http://schemas.microsoft.com/office/drawing/2014/main" val="20003"/>
                    </a:ext>
                  </a:extLst>
                </a:gridCol>
                <a:gridCol w="1474725">
                  <a:extLst>
                    <a:ext uri="{9D8B030D-6E8A-4147-A177-3AD203B41FA5}">
                      <a16:colId xmlns:a16="http://schemas.microsoft.com/office/drawing/2014/main" val="20004"/>
                    </a:ext>
                  </a:extLst>
                </a:gridCol>
                <a:gridCol w="1474725">
                  <a:extLst>
                    <a:ext uri="{9D8B030D-6E8A-4147-A177-3AD203B41FA5}">
                      <a16:colId xmlns:a16="http://schemas.microsoft.com/office/drawing/2014/main" val="20005"/>
                    </a:ext>
                  </a:extLst>
                </a:gridCol>
                <a:gridCol w="1474725">
                  <a:extLst>
                    <a:ext uri="{9D8B030D-6E8A-4147-A177-3AD203B41FA5}">
                      <a16:colId xmlns:a16="http://schemas.microsoft.com/office/drawing/2014/main" val="20006"/>
                    </a:ext>
                  </a:extLst>
                </a:gridCol>
                <a:gridCol w="1474725">
                  <a:extLst>
                    <a:ext uri="{9D8B030D-6E8A-4147-A177-3AD203B41FA5}">
                      <a16:colId xmlns:a16="http://schemas.microsoft.com/office/drawing/2014/main" val="20007"/>
                    </a:ext>
                  </a:extLst>
                </a:gridCol>
              </a:tblGrid>
              <a:tr h="560775">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Paper Author</a:t>
                      </a:r>
                      <a:endParaRPr sz="1400" u="none" strike="noStrike" cap="none">
                        <a:latin typeface="Times New Roman"/>
                        <a:ea typeface="Times New Roman"/>
                        <a:cs typeface="Times New Roman"/>
                        <a:sym typeface="Times New Roman"/>
                      </a:endParaRPr>
                    </a:p>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name</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Year</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Algorithms</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Work Done</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Dataset</a:t>
                      </a:r>
                      <a:endParaRPr sz="1400" u="none" strike="noStrike" cap="none">
                        <a:latin typeface="Times New Roman"/>
                        <a:ea typeface="Times New Roman"/>
                        <a:cs typeface="Times New Roman"/>
                        <a:sym typeface="Times New Roman"/>
                      </a:endParaRPr>
                    </a:p>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used</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Study area</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Conclusion</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Limitations</a:t>
                      </a:r>
                      <a:endParaRPr sz="14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718400">
                <a:tc>
                  <a:txBody>
                    <a:bodyPr/>
                    <a:lstStyle/>
                    <a:p>
                      <a:pPr marL="0" marR="0" lvl="0" indent="0" algn="l" rtl="0">
                        <a:spcBef>
                          <a:spcPts val="0"/>
                        </a:spcBef>
                        <a:spcAft>
                          <a:spcPts val="0"/>
                        </a:spcAft>
                        <a:buNone/>
                      </a:pPr>
                      <a:r>
                        <a:rPr lang="en-US" sz="1400" u="none" strike="noStrike" cap="none">
                          <a:latin typeface="Times New Roman"/>
                          <a:ea typeface="Times New Roman"/>
                          <a:cs typeface="Times New Roman"/>
                          <a:sym typeface="Times New Roman"/>
                        </a:rPr>
                        <a:t>Lars Doyle, Forest Anderson, Ehren Choy, David Mould</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400" u="none" strike="noStrike" cap="none">
                          <a:latin typeface="Times New Roman"/>
                          <a:ea typeface="Times New Roman"/>
                          <a:cs typeface="Times New Roman"/>
                          <a:sym typeface="Times New Roman"/>
                        </a:rPr>
                        <a:t>2019</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400" u="none" strike="noStrike" cap="none">
                          <a:latin typeface="Times New Roman"/>
                          <a:ea typeface="Times New Roman"/>
                          <a:cs typeface="Times New Roman"/>
                          <a:sym typeface="Times New Roman"/>
                        </a:rPr>
                        <a:t>Simple Linear Iterative Clustering (SLIC) </a:t>
                      </a:r>
                      <a:endParaRPr sz="1400" u="none" strike="noStrike" cap="none">
                        <a:latin typeface="Times New Roman"/>
                        <a:ea typeface="Times New Roman"/>
                        <a:cs typeface="Times New Roman"/>
                        <a:sym typeface="Times New Roman"/>
                      </a:endParaRPr>
                    </a:p>
                    <a:p>
                      <a:pPr marL="0" marR="0" lvl="0" indent="0" algn="l"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400" u="none" strike="noStrike" cap="none">
                          <a:latin typeface="Times New Roman"/>
                          <a:ea typeface="Times New Roman"/>
                          <a:cs typeface="Times New Roman"/>
                          <a:sym typeface="Times New Roman"/>
                        </a:rPr>
                        <a:t>Developed an algorithm for generating 3D pebble mosaic</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400" u="none" strike="noStrike" cap="none">
                          <a:latin typeface="Times New Roman"/>
                          <a:ea typeface="Times New Roman"/>
                          <a:cs typeface="Times New Roman"/>
                          <a:sym typeface="Times New Roman"/>
                        </a:rPr>
                        <a:t>User will give an image </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Computer Graphics,Image Processing, Non-PhotorealisticRendering (NPR)</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400" u="none" strike="noStrike" cap="none">
                          <a:latin typeface="Times New Roman"/>
                          <a:ea typeface="Times New Roman"/>
                          <a:cs typeface="Times New Roman"/>
                          <a:sym typeface="Times New Roman"/>
                        </a:rPr>
                        <a:t>The proposed method effectively produces realistic pebble mosaics by aligning tile shapes with image features.</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spcBef>
                          <a:spcPts val="0"/>
                        </a:spcBef>
                        <a:spcAft>
                          <a:spcPts val="0"/>
                        </a:spcAft>
                        <a:buNone/>
                      </a:pPr>
                      <a:r>
                        <a:rPr lang="en-US" sz="1400" u="none" strike="noStrike" cap="none">
                          <a:latin typeface="Times New Roman"/>
                          <a:ea typeface="Times New Roman"/>
                          <a:cs typeface="Times New Roman"/>
                          <a:sym typeface="Times New Roman"/>
                        </a:rPr>
                        <a:t>Computationally expensive due to solving multiple Laplace equations.</a:t>
                      </a:r>
                      <a:endParaRPr sz="1400" u="none" strike="noStrike" cap="none">
                        <a:latin typeface="Times New Roman"/>
                        <a:ea typeface="Times New Roman"/>
                        <a:cs typeface="Times New Roman"/>
                        <a:sym typeface="Times New Roman"/>
                      </a:endParaRPr>
                    </a:p>
                    <a:p>
                      <a:pPr marL="0" marR="0" lvl="0" indent="0" algn="just"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1504625">
                <a:tc>
                  <a:txBody>
                    <a:bodyPr/>
                    <a:lstStyle/>
                    <a:p>
                      <a:pPr marL="0" marR="0" lvl="0" indent="0" algn="l" rtl="0">
                        <a:spcBef>
                          <a:spcPts val="0"/>
                        </a:spcBef>
                        <a:spcAft>
                          <a:spcPts val="0"/>
                        </a:spcAft>
                        <a:buNone/>
                      </a:pPr>
                      <a:r>
                        <a:rPr lang="en-US" sz="1400" u="none" strike="noStrike" cap="none">
                          <a:latin typeface="Times New Roman"/>
                          <a:ea typeface="Times New Roman"/>
                          <a:cs typeface="Times New Roman"/>
                          <a:sym typeface="Times New Roman"/>
                        </a:rPr>
                        <a:t>Da-Xing Zeng, Ming Li, Juan-Juan Wang, Yu-Lei Hou, Wen-Juan Lu, Zhen Huang​</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400" u="none" strike="noStrike" cap="none">
                          <a:latin typeface="Times New Roman"/>
                          <a:ea typeface="Times New Roman"/>
                          <a:cs typeface="Times New Roman"/>
                          <a:sym typeface="Times New Roman"/>
                        </a:rPr>
                        <a:t>2018</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Various Rubik’s Cube reduction algorithms​</a:t>
                      </a:r>
                      <a:endParaRPr sz="1400" u="none" strike="noStrike" cap="none">
                        <a:latin typeface="Times New Roman"/>
                        <a:ea typeface="Times New Roman"/>
                        <a:cs typeface="Times New Roman"/>
                        <a:sym typeface="Times New Roman"/>
                      </a:endParaRPr>
                    </a:p>
                    <a:p>
                      <a:pPr marL="0" marR="0" lvl="0" indent="0" algn="l"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Calibri"/>
                        <a:buNone/>
                      </a:pPr>
                      <a:r>
                        <a:rPr lang="en-US" sz="1400" u="none" strike="noStrike" cap="none">
                          <a:latin typeface="Times New Roman"/>
                          <a:ea typeface="Times New Roman"/>
                          <a:cs typeface="Times New Roman"/>
                          <a:sym typeface="Times New Roman"/>
                        </a:rPr>
                        <a:t>Analyzed the historical evolution of the Rubik’s Cube.</a:t>
                      </a:r>
                      <a:endParaRPr sz="1400" u="none" strike="noStrike" cap="none">
                        <a:latin typeface="Times New Roman"/>
                        <a:ea typeface="Times New Roman"/>
                        <a:cs typeface="Times New Roman"/>
                        <a:sym typeface="Times New Roman"/>
                      </a:endParaRPr>
                    </a:p>
                    <a:p>
                      <a:pPr marL="0" marR="0" lvl="0" indent="0" algn="l"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User will give an image</a:t>
                      </a:r>
                      <a:endParaRPr sz="1400" u="none" strike="noStrike" cap="none">
                        <a:latin typeface="Times New Roman"/>
                        <a:ea typeface="Times New Roman"/>
                        <a:cs typeface="Times New Roman"/>
                        <a:sym typeface="Times New Roman"/>
                      </a:endParaRPr>
                    </a:p>
                    <a:p>
                      <a:pPr marL="0" marR="0" lvl="0" indent="0" algn="l"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just"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Mechanical Engineering, Artificial Intelligence, Robotics</a:t>
                      </a:r>
                      <a:endParaRPr sz="1400" u="none" strike="noStrike" cap="none">
                        <a:latin typeface="Times New Roman"/>
                        <a:ea typeface="Times New Roman"/>
                        <a:cs typeface="Times New Roman"/>
                        <a:sym typeface="Times New Roman"/>
                      </a:endParaRPr>
                    </a:p>
                    <a:p>
                      <a:pPr marL="0" marR="0" lvl="0" indent="0" algn="just"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The Rubik’s Cube has potential applications beyond a simple puzzle​</a:t>
                      </a:r>
                      <a:endParaRPr sz="1400" u="none" strike="noStrike" cap="none">
                        <a:latin typeface="Times New Roman"/>
                        <a:ea typeface="Times New Roman"/>
                        <a:cs typeface="Times New Roman"/>
                        <a:sym typeface="Times New Roman"/>
                      </a:endParaRPr>
                    </a:p>
                    <a:p>
                      <a:pPr marL="0" marR="0" lvl="0" indent="0" algn="l"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The study does not provide experimental validation for proposed applications and mainly focuses on theoretical perspectives​.</a:t>
                      </a:r>
                      <a:endParaRPr sz="1400" u="none" strike="noStrike" cap="none">
                        <a:latin typeface="Times New Roman"/>
                        <a:ea typeface="Times New Roman"/>
                        <a:cs typeface="Times New Roman"/>
                        <a:sym typeface="Times New Roman"/>
                      </a:endParaRPr>
                    </a:p>
                    <a:p>
                      <a:pPr marL="0" marR="0" lvl="0" indent="0" algn="just" rtl="0">
                        <a:spcBef>
                          <a:spcPts val="0"/>
                        </a:spcBef>
                        <a:spcAft>
                          <a:spcPts val="0"/>
                        </a:spcAft>
                        <a:buNone/>
                      </a:pPr>
                      <a:endParaRPr sz="14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1504625">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Boris A. Glazer</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lvl="0" indent="0" algn="ctr" rtl="0">
                        <a:spcBef>
                          <a:spcPts val="0"/>
                        </a:spcBef>
                        <a:spcAft>
                          <a:spcPts val="0"/>
                        </a:spcAft>
                        <a:buClr>
                          <a:schemeClr val="dk1"/>
                        </a:buClr>
                        <a:buSzPts val="1100"/>
                        <a:buFont typeface="Arial"/>
                        <a:buNone/>
                      </a:pPr>
                      <a:r>
                        <a:rPr lang="en-US"/>
                        <a:t>2018</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Block-based image matching </a:t>
                      </a:r>
                      <a:endParaRPr>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Color matching using overall color brightness distribution</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Developed a photomosaic generation software that converts a large image into a mosaic of smaller images</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Userdefined image libraries</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Image Processing,</a:t>
                      </a:r>
                      <a:endParaRPr>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Computer Graphics</a:t>
                      </a:r>
                      <a:endParaRPr>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Mazaika produces high-quality, visually accurate photomosaics</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Quality depends heavily on the size and diversity of the image database</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graphicFrame>
        <p:nvGraphicFramePr>
          <p:cNvPr id="132" name="Google Shape;132;p19"/>
          <p:cNvGraphicFramePr/>
          <p:nvPr/>
        </p:nvGraphicFramePr>
        <p:xfrm>
          <a:off x="278263" y="171796"/>
          <a:ext cx="11635450" cy="6126520"/>
        </p:xfrm>
        <a:graphic>
          <a:graphicData uri="http://schemas.openxmlformats.org/drawingml/2006/table">
            <a:tbl>
              <a:tblPr firstRow="1" bandRow="1">
                <a:noFill/>
                <a:tableStyleId>{3E053BA3-8234-47B2-B54B-D48EE60EED42}</a:tableStyleId>
              </a:tblPr>
              <a:tblGrid>
                <a:gridCol w="1461050">
                  <a:extLst>
                    <a:ext uri="{9D8B030D-6E8A-4147-A177-3AD203B41FA5}">
                      <a16:colId xmlns:a16="http://schemas.microsoft.com/office/drawing/2014/main" val="20000"/>
                    </a:ext>
                  </a:extLst>
                </a:gridCol>
                <a:gridCol w="860350">
                  <a:extLst>
                    <a:ext uri="{9D8B030D-6E8A-4147-A177-3AD203B41FA5}">
                      <a16:colId xmlns:a16="http://schemas.microsoft.com/office/drawing/2014/main" val="20001"/>
                    </a:ext>
                  </a:extLst>
                </a:gridCol>
                <a:gridCol w="2058450">
                  <a:extLst>
                    <a:ext uri="{9D8B030D-6E8A-4147-A177-3AD203B41FA5}">
                      <a16:colId xmlns:a16="http://schemas.microsoft.com/office/drawing/2014/main" val="20002"/>
                    </a:ext>
                  </a:extLst>
                </a:gridCol>
                <a:gridCol w="1554500">
                  <a:extLst>
                    <a:ext uri="{9D8B030D-6E8A-4147-A177-3AD203B41FA5}">
                      <a16:colId xmlns:a16="http://schemas.microsoft.com/office/drawing/2014/main" val="20003"/>
                    </a:ext>
                  </a:extLst>
                </a:gridCol>
                <a:gridCol w="1380875">
                  <a:extLst>
                    <a:ext uri="{9D8B030D-6E8A-4147-A177-3AD203B41FA5}">
                      <a16:colId xmlns:a16="http://schemas.microsoft.com/office/drawing/2014/main" val="20004"/>
                    </a:ext>
                  </a:extLst>
                </a:gridCol>
                <a:gridCol w="1451125">
                  <a:extLst>
                    <a:ext uri="{9D8B030D-6E8A-4147-A177-3AD203B41FA5}">
                      <a16:colId xmlns:a16="http://schemas.microsoft.com/office/drawing/2014/main" val="20005"/>
                    </a:ext>
                  </a:extLst>
                </a:gridCol>
                <a:gridCol w="1461050">
                  <a:extLst>
                    <a:ext uri="{9D8B030D-6E8A-4147-A177-3AD203B41FA5}">
                      <a16:colId xmlns:a16="http://schemas.microsoft.com/office/drawing/2014/main" val="20006"/>
                    </a:ext>
                  </a:extLst>
                </a:gridCol>
                <a:gridCol w="1408050">
                  <a:extLst>
                    <a:ext uri="{9D8B030D-6E8A-4147-A177-3AD203B41FA5}">
                      <a16:colId xmlns:a16="http://schemas.microsoft.com/office/drawing/2014/main" val="20007"/>
                    </a:ext>
                  </a:extLst>
                </a:gridCol>
              </a:tblGrid>
              <a:tr h="495975">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Paper Author</a:t>
                      </a:r>
                      <a:endParaRPr>
                        <a:latin typeface="Times New Roman"/>
                        <a:ea typeface="Times New Roman"/>
                        <a:cs typeface="Times New Roman"/>
                        <a:sym typeface="Times New Roman"/>
                      </a:endParaRPr>
                    </a:p>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name</a:t>
                      </a:r>
                      <a:endParaRPr>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Year</a:t>
                      </a:r>
                      <a:endParaRPr>
                        <a:latin typeface="Times New Roman"/>
                        <a:ea typeface="Times New Roman"/>
                        <a:cs typeface="Times New Roman"/>
                        <a:sym typeface="Times New Roman"/>
                      </a:endParaRPr>
                    </a:p>
                    <a:p>
                      <a:pPr marL="0" marR="0" lvl="0" indent="0" algn="ctr" rtl="0">
                        <a:spcBef>
                          <a:spcPts val="0"/>
                        </a:spcBef>
                        <a:spcAft>
                          <a:spcPts val="0"/>
                        </a:spcAft>
                        <a:buNone/>
                      </a:pPr>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Algorithms</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Work Done</a:t>
                      </a:r>
                      <a:endParaRPr>
                        <a:latin typeface="Times New Roman"/>
                        <a:ea typeface="Times New Roman"/>
                        <a:cs typeface="Times New Roman"/>
                        <a:sym typeface="Times New Roman"/>
                      </a:endParaRPr>
                    </a:p>
                    <a:p>
                      <a:pPr marL="0" marR="0" lvl="0" indent="0" algn="l" rtl="0">
                        <a:spcBef>
                          <a:spcPts val="0"/>
                        </a:spcBef>
                        <a:spcAft>
                          <a:spcPts val="0"/>
                        </a:spcAft>
                        <a:buNone/>
                      </a:pPr>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Dataset</a:t>
                      </a:r>
                      <a:endParaRPr>
                        <a:latin typeface="Times New Roman"/>
                        <a:ea typeface="Times New Roman"/>
                        <a:cs typeface="Times New Roman"/>
                        <a:sym typeface="Times New Roman"/>
                      </a:endParaRPr>
                    </a:p>
                    <a:p>
                      <a:pPr marL="0" marR="0" lvl="0" indent="0" algn="ctr" rtl="0">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Study area</a:t>
                      </a:r>
                      <a:endParaRPr>
                        <a:latin typeface="Times New Roman"/>
                        <a:ea typeface="Times New Roman"/>
                        <a:cs typeface="Times New Roman"/>
                        <a:sym typeface="Times New Roman"/>
                      </a:endParaRPr>
                    </a:p>
                    <a:p>
                      <a:pPr marL="0" marR="0" lvl="0" indent="0" algn="just" rtl="0">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Conclusion</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Limitations</a:t>
                      </a:r>
                      <a:endParaRPr sz="1400" u="none" strike="noStrike" cap="none"/>
                    </a:p>
                  </a:txBody>
                  <a:tcPr marL="91450" marR="91450" marT="45725" marB="45725"/>
                </a:tc>
                <a:extLst>
                  <a:ext uri="{0D108BD9-81ED-4DB2-BD59-A6C34878D82A}">
                    <a16:rowId xmlns:a16="http://schemas.microsoft.com/office/drawing/2014/main" val="10000"/>
                  </a:ext>
                </a:extLst>
              </a:tr>
              <a:tr h="1685575">
                <a:tc>
                  <a:txBody>
                    <a:bodyPr/>
                    <a:lstStyle/>
                    <a:p>
                      <a:pPr marL="0" lvl="0" indent="0" algn="l" rtl="0">
                        <a:spcBef>
                          <a:spcPts val="0"/>
                        </a:spcBef>
                        <a:spcAft>
                          <a:spcPts val="0"/>
                        </a:spcAft>
                        <a:buClr>
                          <a:schemeClr val="dk1"/>
                        </a:buClr>
                        <a:buFont typeface="Arial"/>
                        <a:buNone/>
                      </a:pPr>
                      <a:r>
                        <a:rPr lang="en-US">
                          <a:latin typeface="Times New Roman"/>
                          <a:ea typeface="Times New Roman"/>
                          <a:cs typeface="Times New Roman"/>
                          <a:sym typeface="Times New Roman"/>
                        </a:rPr>
                        <a:t>Yaodong He, Jianfeng Zhou, Shiu Yin Yuen​</a:t>
                      </a:r>
                      <a:endParaRPr>
                        <a:latin typeface="Times New Roman"/>
                        <a:ea typeface="Times New Roman"/>
                        <a:cs typeface="Times New Roman"/>
                        <a:sym typeface="Times New Roman"/>
                      </a:endParaRPr>
                    </a:p>
                    <a:p>
                      <a:pPr marL="0" marR="0" lvl="0" indent="0" algn="l" rtl="0">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ctr" rtl="0">
                        <a:spcBef>
                          <a:spcPts val="0"/>
                        </a:spcBef>
                        <a:spcAft>
                          <a:spcPts val="0"/>
                        </a:spcAft>
                        <a:buClr>
                          <a:schemeClr val="dk1"/>
                        </a:buClr>
                        <a:buFont typeface="Arial"/>
                        <a:buNone/>
                      </a:pPr>
                      <a:r>
                        <a:rPr lang="en-US"/>
                        <a:t>2018</a:t>
                      </a:r>
                      <a:endParaRPr sz="1400" u="none" strike="noStrike" cap="none"/>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Times New Roman"/>
                          <a:ea typeface="Times New Roman"/>
                          <a:cs typeface="Times New Roman"/>
                          <a:sym typeface="Times New Roman"/>
                        </a:rPr>
                        <a:t>Clustering-Based Evolutionary Programming (CEP), Narasimham’s Algorithm, </a:t>
                      </a:r>
                      <a:endParaRPr>
                        <a:latin typeface="Times New Roman"/>
                        <a:ea typeface="Times New Roman"/>
                        <a:cs typeface="Times New Roman"/>
                        <a:sym typeface="Times New Roman"/>
                      </a:endParaRPr>
                    </a:p>
                    <a:p>
                      <a:pPr marL="0" marR="0" lvl="0" indent="0" algn="l" rtl="0">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Times New Roman"/>
                          <a:ea typeface="Times New Roman"/>
                          <a:cs typeface="Times New Roman"/>
                          <a:sym typeface="Times New Roman"/>
                        </a:rPr>
                        <a:t>Developed a novel evolutionary algorithm (CEP) for generating photomosaic images</a:t>
                      </a:r>
                      <a:r>
                        <a:rPr lang="en-US"/>
                        <a:t>.</a:t>
                      </a:r>
                      <a:endParaRPr/>
                    </a:p>
                    <a:p>
                      <a:pPr marL="0" marR="0" lvl="0" indent="0" algn="l" rtl="0">
                        <a:spcBef>
                          <a:spcPts val="0"/>
                        </a:spcBef>
                        <a:spcAft>
                          <a:spcPts val="0"/>
                        </a:spcAft>
                        <a:buNone/>
                      </a:pPr>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Times New Roman"/>
                          <a:ea typeface="Times New Roman"/>
                          <a:cs typeface="Times New Roman"/>
                          <a:sym typeface="Times New Roman"/>
                        </a:rPr>
                        <a:t>photomosaic tile databases</a:t>
                      </a:r>
                      <a:endParaRPr>
                        <a:latin typeface="Times New Roman"/>
                        <a:ea typeface="Times New Roman"/>
                        <a:cs typeface="Times New Roman"/>
                        <a:sym typeface="Times New Roman"/>
                      </a:endParaRPr>
                    </a:p>
                    <a:p>
                      <a:pPr marL="0" marR="0" lvl="0" indent="0" algn="ctr" rtl="0">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Font typeface="Arial"/>
                        <a:buNone/>
                      </a:pPr>
                      <a:r>
                        <a:rPr lang="en-US">
                          <a:latin typeface="Times New Roman"/>
                          <a:ea typeface="Times New Roman"/>
                          <a:cs typeface="Times New Roman"/>
                          <a:sym typeface="Times New Roman"/>
                        </a:rPr>
                        <a:t>Image Processing, Evolutionary Computation, Photomosaic Generation</a:t>
                      </a:r>
                      <a:endParaRPr>
                        <a:latin typeface="Times New Roman"/>
                        <a:ea typeface="Times New Roman"/>
                        <a:cs typeface="Times New Roman"/>
                        <a:sym typeface="Times New Roman"/>
                      </a:endParaRPr>
                    </a:p>
                    <a:p>
                      <a:pPr marL="0" marR="0" lvl="0" indent="0" algn="just" rtl="0">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Times New Roman"/>
                          <a:ea typeface="Times New Roman"/>
                          <a:cs typeface="Times New Roman"/>
                          <a:sym typeface="Times New Roman"/>
                        </a:rPr>
                        <a:t>CEP significantly outperforms otherstate of the art algorithms in terms of visual quality and computation time​.</a:t>
                      </a:r>
                      <a:endParaRPr>
                        <a:latin typeface="Times New Roman"/>
                        <a:ea typeface="Times New Roman"/>
                        <a:cs typeface="Times New Roman"/>
                        <a:sym typeface="Times New Roman"/>
                      </a:endParaRPr>
                    </a:p>
                    <a:p>
                      <a:pPr marL="0" marR="0" lvl="0" indent="0" algn="l" rtl="0">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Calibri"/>
                        <a:buNone/>
                      </a:pPr>
                      <a:r>
                        <a:rPr lang="en-US">
                          <a:latin typeface="Times New Roman"/>
                          <a:ea typeface="Times New Roman"/>
                          <a:cs typeface="Times New Roman"/>
                          <a:sym typeface="Times New Roman"/>
                        </a:rPr>
                        <a:t>The study was limited by the availability of public algorithms such as Andrea software and Mozaika software</a:t>
                      </a:r>
                      <a:endParaRPr/>
                    </a:p>
                    <a:p>
                      <a:pPr marL="0" marR="0" lvl="0" indent="0" algn="l" rtl="0">
                        <a:lnSpc>
                          <a:spcPct val="100000"/>
                        </a:lnSpc>
                        <a:spcBef>
                          <a:spcPts val="0"/>
                        </a:spcBef>
                        <a:spcAft>
                          <a:spcPts val="0"/>
                        </a:spcAft>
                        <a:buClr>
                          <a:schemeClr val="dk1"/>
                        </a:buClr>
                        <a:buSzPts val="1400"/>
                        <a:buFont typeface="Calibri"/>
                        <a:buNone/>
                      </a:pPr>
                      <a:endParaRPr/>
                    </a:p>
                  </a:txBody>
                  <a:tcPr marL="91450" marR="91450" marT="45725" marB="45725"/>
                </a:tc>
                <a:extLst>
                  <a:ext uri="{0D108BD9-81ED-4DB2-BD59-A6C34878D82A}">
                    <a16:rowId xmlns:a16="http://schemas.microsoft.com/office/drawing/2014/main" val="10001"/>
                  </a:ext>
                </a:extLst>
              </a:tr>
              <a:tr h="1084875">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Nikolay Nachev, Ulrike Bergmann, Christopher Seward</a:t>
                      </a:r>
                      <a:endParaRPr>
                        <a:latin typeface="Times New Roman"/>
                        <a:ea typeface="Times New Roman"/>
                        <a:cs typeface="Times New Roman"/>
                        <a:sym typeface="Times New Roman"/>
                      </a:endParaRPr>
                    </a:p>
                  </a:txBody>
                  <a:tcPr marL="91450" marR="91450" marT="45725" marB="45725"/>
                </a:tc>
                <a:tc>
                  <a:txBody>
                    <a:bodyPr/>
                    <a:lstStyle/>
                    <a:p>
                      <a:pPr marL="0" lvl="0" indent="0" algn="ctr" rtl="0">
                        <a:spcBef>
                          <a:spcPts val="0"/>
                        </a:spcBef>
                        <a:spcAft>
                          <a:spcPts val="0"/>
                        </a:spcAft>
                        <a:buNone/>
                      </a:pPr>
                      <a:r>
                        <a:rPr lang="en-US"/>
                        <a:t>2017</a:t>
                      </a:r>
                      <a:endParaRPr/>
                    </a:p>
                  </a:txBody>
                  <a:tcPr marL="91450" marR="91450" marT="45725" marB="457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Generative Adversarial Networks </a:t>
                      </a: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Proposed a novel method GANosaic for generating photomosaics using deep learning</a:t>
                      </a: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Texture datasets used for GAN training</a:t>
                      </a:r>
                      <a:endParaRPr>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Deep Learning,</a:t>
                      </a:r>
                      <a:endParaRPr>
                        <a:latin typeface="Times New Roman"/>
                        <a:ea typeface="Times New Roman"/>
                        <a:cs typeface="Times New Roman"/>
                        <a:sym typeface="Times New Roman"/>
                      </a:endParaRPr>
                    </a:p>
                    <a:p>
                      <a:pPr marL="0" lvl="0" indent="0" algn="just" rtl="0">
                        <a:spcBef>
                          <a:spcPts val="0"/>
                        </a:spcBef>
                        <a:spcAft>
                          <a:spcPts val="0"/>
                        </a:spcAft>
                        <a:buNone/>
                      </a:pPr>
                      <a:r>
                        <a:rPr lang="en-US">
                          <a:latin typeface="Times New Roman"/>
                          <a:ea typeface="Times New Roman"/>
                          <a:cs typeface="Times New Roman"/>
                          <a:sym typeface="Times New Roman"/>
                        </a:rPr>
                        <a:t>Computer Vision</a:t>
                      </a: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GANosaic demonstrates that deep generative models can replace traditional tile databases</a:t>
                      </a:r>
                      <a:endParaRPr>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a:latin typeface="Times New Roman"/>
                          <a:ea typeface="Times New Roman"/>
                          <a:cs typeface="Times New Roman"/>
                          <a:sym typeface="Times New Roman"/>
                        </a:rPr>
                        <a:t>Requires pre-training of GAN models, which is computationally expensive</a:t>
                      </a:r>
                      <a:endParaRPr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1484525">
                <a:tc>
                  <a:txBody>
                    <a:bodyPr/>
                    <a:lstStyle/>
                    <a:p>
                      <a:pPr marL="0" lvl="0" indent="0" algn="l" rtl="0">
                        <a:spcBef>
                          <a:spcPts val="0"/>
                        </a:spcBef>
                        <a:spcAft>
                          <a:spcPts val="0"/>
                        </a:spcAft>
                        <a:buClr>
                          <a:schemeClr val="dk1"/>
                        </a:buClr>
                        <a:buSzPts val="1400"/>
                        <a:buFont typeface="Times New Roman"/>
                        <a:buNone/>
                      </a:pPr>
                      <a:r>
                        <a:rPr lang="en-US">
                          <a:latin typeface="Times New Roman"/>
                          <a:ea typeface="Times New Roman"/>
                          <a:cs typeface="Times New Roman"/>
                          <a:sym typeface="Times New Roman"/>
                        </a:rPr>
                        <a:t>Nikolay Jetchev, Urs Bergmann, Calvin Seward</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ctr" rtl="0">
                        <a:spcBef>
                          <a:spcPts val="0"/>
                        </a:spcBef>
                        <a:spcAft>
                          <a:spcPts val="0"/>
                        </a:spcAft>
                        <a:buClr>
                          <a:schemeClr val="dk1"/>
                        </a:buClr>
                        <a:buFont typeface="Arial"/>
                        <a:buNone/>
                      </a:pPr>
                      <a:r>
                        <a:rPr lang="en-US"/>
                        <a:t>2017</a:t>
                      </a:r>
                      <a:endParaRPr sz="1400" u="none" strike="noStrike" cap="none"/>
                    </a:p>
                  </a:txBody>
                  <a:tcPr marL="91450" marR="91450" marT="45725" marB="45725"/>
                </a:tc>
                <a:tc>
                  <a:txBody>
                    <a:bodyPr/>
                    <a:lstStyle/>
                    <a:p>
                      <a:pPr marL="0" lvl="0" indent="0" algn="l" rtl="0">
                        <a:spcBef>
                          <a:spcPts val="0"/>
                        </a:spcBef>
                        <a:spcAft>
                          <a:spcPts val="0"/>
                        </a:spcAft>
                        <a:buClr>
                          <a:schemeClr val="dk1"/>
                        </a:buClr>
                        <a:buSzPts val="1400"/>
                        <a:buFont typeface="Times New Roman"/>
                        <a:buNone/>
                      </a:pPr>
                      <a:r>
                        <a:rPr lang="en-US">
                          <a:latin typeface="Times New Roman"/>
                          <a:ea typeface="Times New Roman"/>
                          <a:cs typeface="Times New Roman"/>
                          <a:sym typeface="Times New Roman"/>
                        </a:rPr>
                        <a:t>Periodic Spatial Generative Adversarial Network (PSGAN)</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400"/>
                        <a:buFont typeface="Times New Roman"/>
                        <a:buNone/>
                      </a:pPr>
                      <a:r>
                        <a:rPr lang="en-US">
                          <a:latin typeface="Times New Roman"/>
                          <a:ea typeface="Times New Roman"/>
                          <a:cs typeface="Times New Roman"/>
                          <a:sym typeface="Times New Roman"/>
                        </a:rPr>
                        <a:t>Proposed GANosaic, a new method for generating seamless mosaics using PSGAN.</a:t>
                      </a:r>
                      <a:endParaRPr>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endParaRPr/>
                    </a:p>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400"/>
                        <a:buFont typeface="Times New Roman"/>
                        <a:buNone/>
                      </a:pPr>
                      <a:r>
                        <a:rPr lang="en-US">
                          <a:latin typeface="Times New Roman"/>
                          <a:ea typeface="Times New Roman"/>
                          <a:cs typeface="Times New Roman"/>
                          <a:sym typeface="Times New Roman"/>
                        </a:rPr>
                        <a:t>User will give an image</a:t>
                      </a:r>
                      <a:endParaRPr>
                        <a:latin typeface="Times New Roman"/>
                        <a:ea typeface="Times New Roman"/>
                        <a:cs typeface="Times New Roman"/>
                        <a:sym typeface="Times New Roman"/>
                      </a:endParaRPr>
                    </a:p>
                    <a:p>
                      <a:pPr marL="0" lvl="0" indent="0" algn="ctr" rtl="0">
                        <a:spcBef>
                          <a:spcPts val="0"/>
                        </a:spcBef>
                        <a:spcAft>
                          <a:spcPts val="0"/>
                        </a:spcAft>
                        <a:buClr>
                          <a:schemeClr val="dk1"/>
                        </a:buClr>
                        <a:buFont typeface="Arial"/>
                        <a:buNone/>
                      </a:pPr>
                      <a:endParaRPr>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just" rtl="0">
                        <a:spcBef>
                          <a:spcPts val="0"/>
                        </a:spcBef>
                        <a:spcAft>
                          <a:spcPts val="0"/>
                        </a:spcAft>
                        <a:buClr>
                          <a:schemeClr val="dk1"/>
                        </a:buClr>
                        <a:buSzPts val="1400"/>
                        <a:buFont typeface="Times New Roman"/>
                        <a:buNone/>
                      </a:pPr>
                      <a:r>
                        <a:rPr lang="en-US">
                          <a:latin typeface="Times New Roman"/>
                          <a:ea typeface="Times New Roman"/>
                          <a:cs typeface="Times New Roman"/>
                          <a:sym typeface="Times New Roman"/>
                        </a:rPr>
                        <a:t>Image Processing, Computer Vision,</a:t>
                      </a:r>
                      <a:endParaRPr>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GANosaic effectively generates high-quality mosaicS.</a:t>
                      </a:r>
                      <a:endParaRPr>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400"/>
                        <a:buFont typeface="Calibri"/>
                        <a:buNone/>
                      </a:pPr>
                      <a:r>
                        <a:rPr lang="en-US">
                          <a:latin typeface="Times New Roman"/>
                          <a:ea typeface="Times New Roman"/>
                          <a:cs typeface="Times New Roman"/>
                          <a:sym typeface="Times New Roman"/>
                        </a:rPr>
                        <a:t>Computationally expensive due to gradient-based optimization.</a:t>
                      </a:r>
                      <a:endParaRPr>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endParaRPr/>
                    </a:p>
                    <a:p>
                      <a:pPr marL="0" marR="0" lvl="0" indent="0" algn="l" rtl="0">
                        <a:lnSpc>
                          <a:spcPct val="100000"/>
                        </a:lnSpc>
                        <a:spcBef>
                          <a:spcPts val="0"/>
                        </a:spcBef>
                        <a:spcAft>
                          <a:spcPts val="0"/>
                        </a:spcAft>
                        <a:buNone/>
                      </a:pPr>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US" sz="3200" b="1">
                <a:latin typeface="Times New Roman"/>
                <a:ea typeface="Times New Roman"/>
                <a:cs typeface="Times New Roman"/>
                <a:sym typeface="Times New Roman"/>
              </a:rPr>
              <a:t>Dataset and requirement specifications:</a:t>
            </a:r>
            <a:endParaRPr sz="3200" b="1">
              <a:latin typeface="Times New Roman"/>
              <a:ea typeface="Times New Roman"/>
              <a:cs typeface="Times New Roman"/>
              <a:sym typeface="Times New Roman"/>
            </a:endParaRPr>
          </a:p>
        </p:txBody>
      </p:sp>
      <p:sp>
        <p:nvSpPr>
          <p:cNvPr id="138" name="Google Shape;138;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b="1">
                <a:latin typeface="Times New Roman"/>
                <a:ea typeface="Times New Roman"/>
                <a:cs typeface="Times New Roman"/>
                <a:sym typeface="Times New Roman"/>
              </a:rPr>
              <a:t>Datasets:</a:t>
            </a:r>
            <a:endParaRPr sz="2000" b="1">
              <a:latin typeface="Times New Roman"/>
              <a:ea typeface="Times New Roman"/>
              <a:cs typeface="Times New Roman"/>
              <a:sym typeface="Times New Roman"/>
            </a:endParaRPr>
          </a:p>
          <a:p>
            <a:pPr marL="457200" lvl="0" indent="-355600" algn="l" rtl="0">
              <a:lnSpc>
                <a:spcPct val="90000"/>
              </a:lnSpc>
              <a:spcBef>
                <a:spcPts val="1000"/>
              </a:spcBef>
              <a:spcAft>
                <a:spcPts val="0"/>
              </a:spcAft>
              <a:buSzPts val="2000"/>
              <a:buFont typeface="Times New Roman"/>
              <a:buChar char="•"/>
            </a:pPr>
            <a:r>
              <a:rPr lang="en-US" sz="2000">
                <a:latin typeface="Times New Roman"/>
                <a:ea typeface="Times New Roman"/>
                <a:cs typeface="Times New Roman"/>
                <a:sym typeface="Times New Roman"/>
              </a:rPr>
              <a:t>Any image given by the user </a:t>
            </a:r>
            <a:endParaRPr sz="2000">
              <a:latin typeface="Times New Roman"/>
              <a:ea typeface="Times New Roman"/>
              <a:cs typeface="Times New Roman"/>
              <a:sym typeface="Times New Roman"/>
            </a:endParaRPr>
          </a:p>
          <a:p>
            <a:pPr marL="0" lvl="0" indent="0" algn="l" rtl="0">
              <a:lnSpc>
                <a:spcPct val="90000"/>
              </a:lnSpc>
              <a:spcBef>
                <a:spcPts val="1000"/>
              </a:spcBef>
              <a:spcAft>
                <a:spcPts val="0"/>
              </a:spcAft>
              <a:buNone/>
            </a:pPr>
            <a:endParaRPr sz="20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r>
              <a:rPr lang="en-US" sz="2000" b="1">
                <a:latin typeface="Times New Roman"/>
                <a:ea typeface="Times New Roman"/>
                <a:cs typeface="Times New Roman"/>
                <a:sym typeface="Times New Roman"/>
              </a:rPr>
              <a:t>Requirements:</a:t>
            </a:r>
            <a:endParaRPr sz="2000" b="1">
              <a:latin typeface="Times New Roman"/>
              <a:ea typeface="Times New Roman"/>
              <a:cs typeface="Times New Roman"/>
              <a:sym typeface="Times New Roman"/>
            </a:endParaRPr>
          </a:p>
          <a:p>
            <a:pPr marL="457200" lvl="0" indent="-342900" algn="l" rtl="0">
              <a:lnSpc>
                <a:spcPct val="90000"/>
              </a:lnSpc>
              <a:spcBef>
                <a:spcPts val="1000"/>
              </a:spcBef>
              <a:spcAft>
                <a:spcPts val="0"/>
              </a:spcAft>
              <a:buSzPts val="1800"/>
              <a:buFont typeface="Times New Roman"/>
              <a:buChar char="•"/>
            </a:pPr>
            <a:r>
              <a:rPr lang="en-US" sz="1800">
                <a:latin typeface="Times New Roman"/>
                <a:ea typeface="Times New Roman"/>
                <a:cs typeface="Times New Roman"/>
                <a:sym typeface="Times New Roman"/>
              </a:rPr>
              <a:t>Backend:Python programming environment.</a:t>
            </a:r>
            <a:endParaRPr sz="1800">
              <a:latin typeface="Times New Roman"/>
              <a:ea typeface="Times New Roman"/>
              <a:cs typeface="Times New Roman"/>
              <a:sym typeface="Times New Roman"/>
            </a:endParaRPr>
          </a:p>
          <a:p>
            <a:pPr marL="457200" lvl="0" indent="-342900" algn="l" rtl="0">
              <a:lnSpc>
                <a:spcPct val="9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Libraries: OpenCV, math ,numpy</a:t>
            </a:r>
            <a:endParaRPr sz="1800">
              <a:latin typeface="Times New Roman"/>
              <a:ea typeface="Times New Roman"/>
              <a:cs typeface="Times New Roman"/>
              <a:sym typeface="Times New Roman"/>
            </a:endParaRPr>
          </a:p>
          <a:p>
            <a:pPr marL="457200" lvl="0" indent="-342900" algn="l" rtl="0">
              <a:lnSpc>
                <a:spcPct val="9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web Framework:Flask</a:t>
            </a:r>
            <a:endParaRPr sz="1800">
              <a:latin typeface="Times New Roman"/>
              <a:ea typeface="Times New Roman"/>
              <a:cs typeface="Times New Roman"/>
              <a:sym typeface="Times New Roman"/>
            </a:endParaRPr>
          </a:p>
          <a:p>
            <a:pPr marL="457200" lvl="0" indent="-342900" algn="l" rtl="0">
              <a:lnSpc>
                <a:spcPct val="9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Frontend:HTML,CSS,javaScript</a:t>
            </a:r>
            <a:endParaRPr sz="1800">
              <a:latin typeface="Times New Roman"/>
              <a:ea typeface="Times New Roman"/>
              <a:cs typeface="Times New Roman"/>
              <a:sym typeface="Times New Roman"/>
            </a:endParaRPr>
          </a:p>
          <a:p>
            <a:pPr marL="457200" lvl="0" indent="0" algn="l" rtl="0">
              <a:lnSpc>
                <a:spcPct val="90000"/>
              </a:lnSpc>
              <a:spcBef>
                <a:spcPts val="1000"/>
              </a:spcBef>
              <a:spcAft>
                <a:spcPts val="0"/>
              </a:spcAft>
              <a:buNone/>
            </a:pPr>
            <a:endParaRPr sz="200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pic>
        <p:nvPicPr>
          <p:cNvPr id="139" name="Google Shape;139;p20" descr="numpy is better than lists or arrays ..."/>
          <p:cNvPicPr preferRelativeResize="0"/>
          <p:nvPr/>
        </p:nvPicPr>
        <p:blipFill rotWithShape="1">
          <a:blip r:embed="rId3">
            <a:alphaModFix/>
          </a:blip>
          <a:srcRect/>
          <a:stretch/>
        </p:blipFill>
        <p:spPr>
          <a:xfrm>
            <a:off x="5867474" y="2812151"/>
            <a:ext cx="2512593" cy="1005037"/>
          </a:xfrm>
          <a:prstGeom prst="rect">
            <a:avLst/>
          </a:prstGeom>
          <a:noFill/>
          <a:ln>
            <a:noFill/>
          </a:ln>
        </p:spPr>
      </p:pic>
      <p:pic>
        <p:nvPicPr>
          <p:cNvPr id="140" name="Google Shape;140;p20" descr="Important Libraries of OpenCV. OpenCV is a cross-platform library used… |  by Prithvi Dev | Javarevisited | Medium"/>
          <p:cNvPicPr preferRelativeResize="0"/>
          <p:nvPr/>
        </p:nvPicPr>
        <p:blipFill rotWithShape="1">
          <a:blip r:embed="rId4">
            <a:alphaModFix/>
          </a:blip>
          <a:srcRect/>
          <a:stretch/>
        </p:blipFill>
        <p:spPr>
          <a:xfrm>
            <a:off x="7372926" y="3925597"/>
            <a:ext cx="2799343" cy="12159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1"/>
          <p:cNvSpPr txBox="1">
            <a:spLocks noGrp="1"/>
          </p:cNvSpPr>
          <p:nvPr>
            <p:ph type="title"/>
          </p:nvPr>
        </p:nvSpPr>
        <p:spPr>
          <a:xfrm>
            <a:off x="777913" y="3650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US" sz="3200" b="1">
                <a:latin typeface="Times New Roman"/>
                <a:ea typeface="Times New Roman"/>
                <a:cs typeface="Times New Roman"/>
                <a:sym typeface="Times New Roman"/>
              </a:rPr>
              <a:t>Algorithms used in the Project:</a:t>
            </a:r>
            <a:endParaRPr sz="3200" b="1"/>
          </a:p>
        </p:txBody>
      </p:sp>
      <p:sp>
        <p:nvSpPr>
          <p:cNvPr id="146" name="Google Shape;146;p21"/>
          <p:cNvSpPr txBox="1">
            <a:spLocks noGrp="1"/>
          </p:cNvSpPr>
          <p:nvPr>
            <p:ph type="body" idx="1"/>
          </p:nvPr>
        </p:nvSpPr>
        <p:spPr>
          <a:xfrm>
            <a:off x="717643" y="1546938"/>
            <a:ext cx="10636200" cy="4486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000"/>
              <a:buNone/>
            </a:pPr>
            <a:r>
              <a:rPr lang="en-US" sz="1800" b="1">
                <a:latin typeface="Times New Roman"/>
                <a:ea typeface="Times New Roman"/>
                <a:cs typeface="Times New Roman"/>
                <a:sym typeface="Times New Roman"/>
              </a:rPr>
              <a:t>Algorithm:</a:t>
            </a:r>
            <a:r>
              <a:rPr lang="en-US" sz="1800">
                <a:latin typeface="Times New Roman"/>
                <a:ea typeface="Times New Roman"/>
                <a:cs typeface="Times New Roman"/>
                <a:sym typeface="Times New Roman"/>
              </a:rPr>
              <a:t>Multi-Stage Signal Conditioning</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r>
              <a:rPr lang="en-US" sz="1800" b="1">
                <a:latin typeface="Times New Roman"/>
                <a:ea typeface="Times New Roman"/>
                <a:cs typeface="Times New Roman"/>
                <a:sym typeface="Times New Roman"/>
              </a:rPr>
              <a:t>input:</a:t>
            </a:r>
            <a:r>
              <a:rPr lang="en-US" sz="1800">
                <a:latin typeface="Times New Roman"/>
                <a:ea typeface="Times New Roman"/>
                <a:cs typeface="Times New Roman"/>
                <a:sym typeface="Times New Roman"/>
              </a:rPr>
              <a:t>User given input</a:t>
            </a:r>
            <a:endParaRPr sz="18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r>
              <a:rPr lang="en-US" sz="1800" b="1">
                <a:latin typeface="Times New Roman"/>
                <a:ea typeface="Times New Roman"/>
                <a:cs typeface="Times New Roman"/>
                <a:sym typeface="Times New Roman"/>
              </a:rPr>
              <a:t>Step 1:</a:t>
            </a:r>
            <a:r>
              <a:rPr lang="en-US" sz="1800">
                <a:latin typeface="Times New Roman"/>
                <a:ea typeface="Times New Roman"/>
                <a:cs typeface="Times New Roman"/>
                <a:sym typeface="Times New Roman"/>
              </a:rPr>
              <a:t>The algorithm calculates the average color of the image and shifts it toward neutral gray to remove unwanted color casts.</a:t>
            </a:r>
            <a:endParaRPr sz="180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1800" b="1">
                <a:latin typeface="Times New Roman"/>
                <a:ea typeface="Times New Roman"/>
                <a:cs typeface="Times New Roman"/>
                <a:sym typeface="Times New Roman"/>
              </a:rPr>
              <a:t>Step 2:</a:t>
            </a:r>
            <a:r>
              <a:rPr lang="en-US" sz="1800">
                <a:latin typeface="Times New Roman"/>
                <a:ea typeface="Times New Roman"/>
                <a:cs typeface="Times New Roman"/>
                <a:sym typeface="Times New Roman"/>
              </a:rPr>
              <a:t> It analyzes the image's mean luminance. If the image is too dark or too bright, it applies a power-law transformation to bring the mid-tones into a target range.</a:t>
            </a:r>
            <a:endParaRPr sz="180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1800" b="1">
                <a:latin typeface="Times New Roman"/>
                <a:ea typeface="Times New Roman"/>
                <a:cs typeface="Times New Roman"/>
                <a:sym typeface="Times New Roman"/>
              </a:rPr>
              <a:t>Step 3:</a:t>
            </a:r>
            <a:r>
              <a:rPr lang="en-US" sz="1800">
                <a:latin typeface="Times New Roman"/>
                <a:ea typeface="Times New Roman"/>
                <a:cs typeface="Times New Roman"/>
                <a:sym typeface="Times New Roman"/>
              </a:rPr>
              <a:t> CLAHE (Contrast Limited Adaptive Histogram Equalization) The image is converted to the CIE Lab color space. CLAHE is applied specifically to the "L" (Lightness) channel to boost local contrast without amplifying noise.</a:t>
            </a:r>
            <a:br>
              <a:rPr lang="en-US" sz="1800">
                <a:latin typeface="Times New Roman"/>
                <a:ea typeface="Times New Roman"/>
                <a:cs typeface="Times New Roman"/>
                <a:sym typeface="Times New Roman"/>
              </a:rPr>
            </a:br>
            <a:r>
              <a:rPr lang="en-US" sz="1800" b="1">
                <a:latin typeface="Times New Roman"/>
                <a:ea typeface="Times New Roman"/>
                <a:cs typeface="Times New Roman"/>
                <a:sym typeface="Times New Roman"/>
              </a:rPr>
              <a:t>Output:</a:t>
            </a:r>
            <a:r>
              <a:rPr lang="en-US" sz="1800">
                <a:latin typeface="Times New Roman"/>
                <a:ea typeface="Times New Roman"/>
                <a:cs typeface="Times New Roman"/>
                <a:sym typeface="Times New Roman"/>
              </a:rPr>
              <a:t> A standardized, high-contrast BGR image that provides a clear "signal" for the quantization engine.</a:t>
            </a:r>
            <a:endParaRPr sz="1800">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20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Times New Roman"/>
                <a:ea typeface="Times New Roman"/>
                <a:cs typeface="Times New Roman"/>
                <a:sym typeface="Times New Roman"/>
              </a:rPr>
              <a:t>Algorithms used in the Project:</a:t>
            </a:r>
            <a:endParaRPr sz="3200" b="1"/>
          </a:p>
        </p:txBody>
      </p:sp>
      <p:sp>
        <p:nvSpPr>
          <p:cNvPr id="153" name="Google Shape;153;p22"/>
          <p:cNvSpPr txBox="1">
            <a:spLocks noGrp="1"/>
          </p:cNvSpPr>
          <p:nvPr>
            <p:ph type="body" idx="1"/>
          </p:nvPr>
        </p:nvSpPr>
        <p:spPr>
          <a:xfrm>
            <a:off x="838200" y="1466175"/>
            <a:ext cx="10703100" cy="4351200"/>
          </a:xfrm>
          <a:prstGeom prst="rect">
            <a:avLst/>
          </a:prstGeom>
        </p:spPr>
        <p:txBody>
          <a:bodyPr spcFirstLastPara="1" wrap="square" lIns="91425" tIns="45700" rIns="91425" bIns="45700" anchor="t" anchorCtr="0">
            <a:normAutofit fontScale="25000" lnSpcReduction="20000"/>
          </a:bodyPr>
          <a:lstStyle/>
          <a:p>
            <a:pPr marL="0" lvl="0" indent="0" algn="l" rtl="0">
              <a:spcBef>
                <a:spcPts val="1000"/>
              </a:spcBef>
              <a:spcAft>
                <a:spcPts val="0"/>
              </a:spcAft>
              <a:buNone/>
            </a:pPr>
            <a:r>
              <a:rPr lang="en-US" sz="7200" b="1">
                <a:latin typeface="Times New Roman"/>
                <a:ea typeface="Times New Roman"/>
                <a:cs typeface="Times New Roman"/>
                <a:sym typeface="Times New Roman"/>
              </a:rPr>
              <a:t>Algorithm:</a:t>
            </a:r>
            <a:r>
              <a:rPr lang="en-US" sz="7200">
                <a:latin typeface="Times New Roman"/>
                <a:ea typeface="Times New Roman"/>
                <a:cs typeface="Times New Roman"/>
                <a:sym typeface="Times New Roman"/>
              </a:rPr>
              <a:t>Non-Orthogonal Geometric Tiling</a:t>
            </a:r>
            <a:endParaRPr sz="7200">
              <a:latin typeface="Times New Roman"/>
              <a:ea typeface="Times New Roman"/>
              <a:cs typeface="Times New Roman"/>
              <a:sym typeface="Times New Roman"/>
            </a:endParaRPr>
          </a:p>
          <a:p>
            <a:pPr marL="0" lvl="0" indent="0" algn="l" rtl="0">
              <a:spcBef>
                <a:spcPts val="1000"/>
              </a:spcBef>
              <a:spcAft>
                <a:spcPts val="0"/>
              </a:spcAft>
              <a:buNone/>
            </a:pPr>
            <a:r>
              <a:rPr lang="en-US" sz="7200" b="1">
                <a:latin typeface="Times New Roman"/>
                <a:ea typeface="Times New Roman"/>
                <a:cs typeface="Times New Roman"/>
                <a:sym typeface="Times New Roman"/>
              </a:rPr>
              <a:t>Input:</a:t>
            </a:r>
            <a:r>
              <a:rPr lang="en-US" sz="7200">
                <a:latin typeface="Times New Roman"/>
                <a:ea typeface="Times New Roman"/>
                <a:cs typeface="Times New Roman"/>
                <a:sym typeface="Times New Roman"/>
              </a:rPr>
              <a:t>User given input</a:t>
            </a:r>
            <a:endParaRPr sz="720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7200" b="1">
                <a:latin typeface="Times New Roman"/>
                <a:ea typeface="Times New Roman"/>
                <a:cs typeface="Times New Roman"/>
                <a:sym typeface="Times New Roman"/>
              </a:rPr>
              <a:t>Step 1:</a:t>
            </a:r>
            <a:r>
              <a:rPr lang="en-US" sz="7200">
                <a:latin typeface="Times New Roman"/>
                <a:ea typeface="Times New Roman"/>
                <a:cs typeface="Times New Roman"/>
                <a:sym typeface="Times New Roman"/>
              </a:rPr>
              <a:t> Calculate the triangle height Hbased on the user-selected side length S using the formula: H = S × √3 / 2.</a:t>
            </a:r>
            <a:endParaRPr sz="720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7200" b="1">
                <a:latin typeface="Times New Roman"/>
                <a:ea typeface="Times New Roman"/>
                <a:cs typeface="Times New Roman"/>
                <a:sym typeface="Times New Roman"/>
              </a:rPr>
              <a:t>Step 2:</a:t>
            </a:r>
            <a:r>
              <a:rPr lang="en-US" sz="7200">
                <a:latin typeface="Times New Roman"/>
                <a:ea typeface="Times New Roman"/>
                <a:cs typeface="Times New Roman"/>
                <a:sym typeface="Times New Roman"/>
              </a:rPr>
              <a:t> Determine the grid bounds to ensure the mosaic fits perfectly within the physical dimensions of a puzzle set.</a:t>
            </a:r>
            <a:endParaRPr sz="720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7200" b="1">
                <a:latin typeface="Times New Roman"/>
                <a:ea typeface="Times New Roman"/>
                <a:cs typeface="Times New Roman"/>
                <a:sym typeface="Times New Roman"/>
              </a:rPr>
              <a:t>Step 3:</a:t>
            </a:r>
            <a:r>
              <a:rPr lang="en-US" sz="7200">
                <a:latin typeface="Times New Roman"/>
                <a:ea typeface="Times New Roman"/>
                <a:cs typeface="Times New Roman"/>
                <a:sym typeface="Times New Roman"/>
              </a:rPr>
              <a:t> Iterate through the grid. For each cell, determine the triangle's orientation (upward or downward) based on whether the sum of the current row + column index is even or odd.</a:t>
            </a:r>
            <a:endParaRPr sz="720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7200" b="1">
                <a:latin typeface="Times New Roman"/>
                <a:ea typeface="Times New Roman"/>
                <a:cs typeface="Times New Roman"/>
                <a:sym typeface="Times New Roman"/>
              </a:rPr>
              <a:t>Step 4:</a:t>
            </a:r>
            <a:r>
              <a:rPr lang="en-US" sz="7200">
                <a:latin typeface="Times New Roman"/>
                <a:ea typeface="Times New Roman"/>
                <a:cs typeface="Times New Roman"/>
                <a:sym typeface="Times New Roman"/>
              </a:rPr>
              <a:t> Generate the precise vertex coordinates for each triangle to create a continuous mesh without gaps.</a:t>
            </a:r>
            <a:endParaRPr sz="720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7200" b="1">
                <a:latin typeface="Times New Roman"/>
                <a:ea typeface="Times New Roman"/>
                <a:cs typeface="Times New Roman"/>
                <a:sym typeface="Times New Roman"/>
              </a:rPr>
              <a:t>Output:</a:t>
            </a:r>
            <a:r>
              <a:rPr lang="en-US" sz="7200">
                <a:latin typeface="Times New Roman"/>
                <a:ea typeface="Times New Roman"/>
                <a:cs typeface="Times New Roman"/>
                <a:sym typeface="Times New Roman"/>
              </a:rPr>
              <a:t> A collection of triangular "masks" that map specific pixel regions of the original image to the mosaic grid.</a:t>
            </a:r>
            <a:endParaRPr sz="7200">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6231">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3600">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2350">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2000">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2000" b="1">
              <a:latin typeface="Times New Roman"/>
              <a:ea typeface="Times New Roman"/>
              <a:cs typeface="Times New Roman"/>
              <a:sym typeface="Times New Roman"/>
            </a:endParaRPr>
          </a:p>
          <a:p>
            <a:pPr marL="0" lvl="0" indent="0" algn="l" rtl="0">
              <a:spcBef>
                <a:spcPts val="1000"/>
              </a:spcBef>
              <a:spcAft>
                <a:spcPts val="0"/>
              </a:spcAft>
              <a:buNone/>
            </a:pPr>
            <a:endParaRPr sz="2000" b="1">
              <a:latin typeface="Times New Roman"/>
              <a:ea typeface="Times New Roman"/>
              <a:cs typeface="Times New Roman"/>
              <a:sym typeface="Times New Roman"/>
            </a:endParaRPr>
          </a:p>
          <a:p>
            <a:pPr marL="0" lvl="0" indent="0" algn="l" rtl="0">
              <a:spcBef>
                <a:spcPts val="100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Times New Roman"/>
                <a:ea typeface="Times New Roman"/>
                <a:cs typeface="Times New Roman"/>
                <a:sym typeface="Times New Roman"/>
              </a:rPr>
              <a:t>Algorithms used in the Project:</a:t>
            </a:r>
            <a:endParaRPr sz="3200" b="1"/>
          </a:p>
        </p:txBody>
      </p:sp>
      <p:sp>
        <p:nvSpPr>
          <p:cNvPr id="160" name="Google Shape;160;p23"/>
          <p:cNvSpPr txBox="1">
            <a:spLocks noGrp="1"/>
          </p:cNvSpPr>
          <p:nvPr>
            <p:ph type="body" idx="1"/>
          </p:nvPr>
        </p:nvSpPr>
        <p:spPr>
          <a:xfrm>
            <a:off x="838200" y="1579675"/>
            <a:ext cx="10515600" cy="4351200"/>
          </a:xfrm>
          <a:prstGeom prst="rect">
            <a:avLst/>
          </a:prstGeom>
        </p:spPr>
        <p:txBody>
          <a:bodyPr spcFirstLastPara="1" wrap="square" lIns="91425" tIns="45700" rIns="91425" bIns="45700" anchor="t" anchorCtr="0">
            <a:normAutofit fontScale="77500" lnSpcReduction="20000"/>
          </a:bodyPr>
          <a:lstStyle/>
          <a:p>
            <a:pPr marL="0" lvl="0" indent="0" algn="l" rtl="0">
              <a:spcBef>
                <a:spcPts val="1000"/>
              </a:spcBef>
              <a:spcAft>
                <a:spcPts val="0"/>
              </a:spcAft>
              <a:buNone/>
            </a:pPr>
            <a:r>
              <a:rPr lang="en-US" sz="2550" b="1" dirty="0">
                <a:latin typeface="Times New Roman"/>
                <a:ea typeface="Times New Roman"/>
                <a:cs typeface="Times New Roman"/>
                <a:sym typeface="Times New Roman"/>
              </a:rPr>
              <a:t>Algorithm: </a:t>
            </a:r>
            <a:r>
              <a:rPr lang="en-US" sz="2550" dirty="0">
                <a:latin typeface="Times New Roman"/>
                <a:ea typeface="Times New Roman"/>
                <a:cs typeface="Times New Roman"/>
                <a:sym typeface="Times New Roman"/>
              </a:rPr>
              <a:t>Perceptual Color Quantization (CIEDE2000)</a:t>
            </a:r>
            <a:endParaRPr sz="2550" dirty="0">
              <a:latin typeface="Times New Roman"/>
              <a:ea typeface="Times New Roman"/>
              <a:cs typeface="Times New Roman"/>
              <a:sym typeface="Times New Roman"/>
            </a:endParaRPr>
          </a:p>
          <a:p>
            <a:pPr marL="0" lvl="0" indent="0" algn="l" rtl="0">
              <a:spcBef>
                <a:spcPts val="1000"/>
              </a:spcBef>
              <a:spcAft>
                <a:spcPts val="0"/>
              </a:spcAft>
              <a:buNone/>
            </a:pPr>
            <a:r>
              <a:rPr lang="en-US" sz="2550" b="1" dirty="0">
                <a:latin typeface="Times New Roman"/>
                <a:ea typeface="Times New Roman"/>
                <a:cs typeface="Times New Roman"/>
                <a:sym typeface="Times New Roman"/>
              </a:rPr>
              <a:t>Input: </a:t>
            </a:r>
            <a:r>
              <a:rPr lang="en-US" sz="2550" dirty="0">
                <a:latin typeface="Times New Roman"/>
                <a:ea typeface="Times New Roman"/>
                <a:cs typeface="Times New Roman"/>
                <a:sym typeface="Times New Roman"/>
              </a:rPr>
              <a:t>User given input</a:t>
            </a:r>
            <a:endParaRPr sz="255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2550" b="1" dirty="0">
                <a:latin typeface="Times New Roman"/>
                <a:ea typeface="Times New Roman"/>
                <a:cs typeface="Times New Roman"/>
                <a:sym typeface="Times New Roman"/>
              </a:rPr>
              <a:t>Step 1:</a:t>
            </a:r>
            <a:r>
              <a:rPr lang="en-US" sz="2550" dirty="0">
                <a:latin typeface="Times New Roman"/>
                <a:ea typeface="Times New Roman"/>
                <a:cs typeface="Times New Roman"/>
                <a:sym typeface="Times New Roman"/>
              </a:rPr>
              <a:t> Convert the sampled BGR color into the CIE Lab color space, which separates color into Lightness (L), Green-Red (a), and Blue-Yellow (b).</a:t>
            </a:r>
            <a:endParaRPr sz="255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2550" b="1" dirty="0">
                <a:latin typeface="Times New Roman"/>
                <a:ea typeface="Times New Roman"/>
                <a:cs typeface="Times New Roman"/>
                <a:sym typeface="Times New Roman"/>
              </a:rPr>
              <a:t>Step 2:</a:t>
            </a:r>
            <a:r>
              <a:rPr lang="en-US" sz="2550" dirty="0">
                <a:latin typeface="Times New Roman"/>
                <a:ea typeface="Times New Roman"/>
                <a:cs typeface="Times New Roman"/>
                <a:sym typeface="Times New Roman"/>
              </a:rPr>
              <a:t> Compare the target color against the fixed Pyraminx palette (Red, Blue, Green, Yellow).</a:t>
            </a:r>
            <a:endParaRPr sz="255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2550" b="1" dirty="0">
                <a:latin typeface="Times New Roman"/>
                <a:ea typeface="Times New Roman"/>
                <a:cs typeface="Times New Roman"/>
                <a:sym typeface="Times New Roman"/>
              </a:rPr>
              <a:t>Step 3:</a:t>
            </a:r>
            <a:r>
              <a:rPr lang="en-US" sz="2550" dirty="0">
                <a:latin typeface="Times New Roman"/>
                <a:ea typeface="Times New Roman"/>
                <a:cs typeface="Times New Roman"/>
                <a:sym typeface="Times New Roman"/>
              </a:rPr>
              <a:t> Apply the CIEDE2000 formula, which adds complex "correction factors" for how humans perceive hue shifts in blue regions and how we are more sensitive to changes in brightness than in saturation.</a:t>
            </a:r>
            <a:endParaRPr sz="255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2550" b="1" dirty="0">
                <a:latin typeface="Times New Roman"/>
                <a:ea typeface="Times New Roman"/>
                <a:cs typeface="Times New Roman"/>
                <a:sym typeface="Times New Roman"/>
              </a:rPr>
              <a:t>Step 4:</a:t>
            </a:r>
            <a:r>
              <a:rPr lang="en-US" sz="2550" dirty="0">
                <a:latin typeface="Times New Roman"/>
                <a:ea typeface="Times New Roman"/>
                <a:cs typeface="Times New Roman"/>
                <a:sym typeface="Times New Roman"/>
              </a:rPr>
              <a:t> Select the palette color with the minimum Delta E.</a:t>
            </a:r>
            <a:endParaRPr sz="255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2550" b="1" dirty="0">
                <a:latin typeface="Times New Roman"/>
                <a:ea typeface="Times New Roman"/>
                <a:cs typeface="Times New Roman"/>
                <a:sym typeface="Times New Roman"/>
              </a:rPr>
              <a:t>Output:</a:t>
            </a:r>
            <a:r>
              <a:rPr lang="en-US" sz="2550" dirty="0">
                <a:latin typeface="Times New Roman"/>
                <a:ea typeface="Times New Roman"/>
                <a:cs typeface="Times New Roman"/>
                <a:sym typeface="Times New Roman"/>
              </a:rPr>
              <a:t> A single color from the 4-color Pyraminx set that is a "perceptual" match, even if it isn't a mathematical RGB match.</a:t>
            </a:r>
            <a:endParaRPr sz="255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200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endParaRPr sz="2000" dirty="0">
              <a:latin typeface="Times New Roman"/>
              <a:ea typeface="Times New Roman"/>
              <a:cs typeface="Times New Roman"/>
              <a:sym typeface="Times New Roman"/>
            </a:endParaRPr>
          </a:p>
          <a:p>
            <a:pPr marL="0" lvl="0" indent="0" algn="l" rtl="0">
              <a:spcBef>
                <a:spcPts val="10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Times New Roman"/>
                <a:ea typeface="Times New Roman"/>
                <a:cs typeface="Times New Roman"/>
                <a:sym typeface="Times New Roman"/>
              </a:rPr>
              <a:t>Algorithms used in the Project:</a:t>
            </a:r>
            <a:endParaRPr b="1"/>
          </a:p>
        </p:txBody>
      </p:sp>
      <p:sp>
        <p:nvSpPr>
          <p:cNvPr id="167" name="Google Shape;167;p2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b="1" dirty="0">
                <a:latin typeface="Times New Roman"/>
                <a:ea typeface="Times New Roman"/>
                <a:cs typeface="Times New Roman"/>
                <a:sym typeface="Times New Roman"/>
              </a:rPr>
              <a:t>Algorithm: </a:t>
            </a:r>
            <a:r>
              <a:rPr lang="en-US" sz="1800" dirty="0">
                <a:latin typeface="Times New Roman"/>
                <a:ea typeface="Times New Roman"/>
                <a:cs typeface="Times New Roman"/>
                <a:sym typeface="Times New Roman"/>
              </a:rPr>
              <a:t>Logistical Blueprinting</a:t>
            </a:r>
            <a:endParaRPr sz="1800" dirty="0">
              <a:latin typeface="Times New Roman"/>
              <a:ea typeface="Times New Roman"/>
              <a:cs typeface="Times New Roman"/>
              <a:sym typeface="Times New Roman"/>
            </a:endParaRPr>
          </a:p>
          <a:p>
            <a:pPr marL="0" lvl="0" indent="0" algn="l" rtl="0">
              <a:spcBef>
                <a:spcPts val="1000"/>
              </a:spcBef>
              <a:spcAft>
                <a:spcPts val="0"/>
              </a:spcAft>
              <a:buNone/>
            </a:pPr>
            <a:r>
              <a:rPr lang="en-US" sz="1800" b="1" dirty="0">
                <a:latin typeface="Times New Roman"/>
                <a:ea typeface="Times New Roman"/>
                <a:cs typeface="Times New Roman"/>
                <a:sym typeface="Times New Roman"/>
              </a:rPr>
              <a:t>Input: </a:t>
            </a:r>
            <a:r>
              <a:rPr lang="en-US" sz="1800" dirty="0">
                <a:latin typeface="Times New Roman"/>
                <a:ea typeface="Times New Roman"/>
                <a:cs typeface="Times New Roman"/>
                <a:sym typeface="Times New Roman"/>
              </a:rPr>
              <a:t>User given input</a:t>
            </a:r>
            <a:endParaRPr sz="180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1800" b="1" dirty="0">
                <a:latin typeface="Times New Roman"/>
                <a:ea typeface="Times New Roman"/>
                <a:cs typeface="Times New Roman"/>
                <a:sym typeface="Times New Roman"/>
              </a:rPr>
              <a:t>Step 1:</a:t>
            </a:r>
            <a:r>
              <a:rPr lang="en-US" sz="1800" dirty="0">
                <a:latin typeface="Times New Roman"/>
                <a:ea typeface="Times New Roman"/>
                <a:cs typeface="Times New Roman"/>
                <a:sym typeface="Times New Roman"/>
              </a:rPr>
              <a:t> Segment the high-resolution mosaic into a user-defined grid .</a:t>
            </a:r>
            <a:endParaRPr sz="180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1800" b="1" dirty="0">
                <a:latin typeface="Times New Roman"/>
                <a:ea typeface="Times New Roman"/>
                <a:cs typeface="Times New Roman"/>
                <a:sym typeface="Times New Roman"/>
              </a:rPr>
              <a:t>Step 2:</a:t>
            </a:r>
            <a:r>
              <a:rPr lang="en-US" sz="1800" dirty="0">
                <a:latin typeface="Times New Roman"/>
                <a:ea typeface="Times New Roman"/>
                <a:cs typeface="Times New Roman"/>
                <a:sym typeface="Times New Roman"/>
              </a:rPr>
              <a:t> Assign coordinate labels to each segment using an Excel-style alphanumeric system.</a:t>
            </a:r>
            <a:endParaRPr sz="180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1800" b="1" dirty="0">
                <a:latin typeface="Times New Roman"/>
                <a:ea typeface="Times New Roman"/>
                <a:cs typeface="Times New Roman"/>
                <a:sym typeface="Times New Roman"/>
              </a:rPr>
              <a:t>Step 3:</a:t>
            </a:r>
            <a:r>
              <a:rPr lang="en-US" sz="1800" dirty="0">
                <a:latin typeface="Times New Roman"/>
                <a:ea typeface="Times New Roman"/>
                <a:cs typeface="Times New Roman"/>
                <a:sym typeface="Times New Roman"/>
              </a:rPr>
              <a:t> Calculate the total bill of materials, determining exactly how many individual triangles of each color are needed and how many physical Pyraminx units must be purchased.</a:t>
            </a:r>
            <a:endParaRPr sz="180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1800" b="1" dirty="0">
                <a:latin typeface="Times New Roman"/>
                <a:ea typeface="Times New Roman"/>
                <a:cs typeface="Times New Roman"/>
                <a:sym typeface="Times New Roman"/>
              </a:rPr>
              <a:t>Step 4:</a:t>
            </a:r>
            <a:r>
              <a:rPr lang="en-US" sz="1800" dirty="0">
                <a:latin typeface="Times New Roman"/>
                <a:ea typeface="Times New Roman"/>
                <a:cs typeface="Times New Roman"/>
                <a:sym typeface="Times New Roman"/>
              </a:rPr>
              <a:t> Render a multi-page PDF where Page 1 is the Master Key and subsequent pages are individual, high-resolution build sheets for each section.</a:t>
            </a:r>
            <a:endParaRPr sz="1800" dirty="0">
              <a:latin typeface="Times New Roman"/>
              <a:ea typeface="Times New Roman"/>
              <a:cs typeface="Times New Roman"/>
              <a:sym typeface="Times New Roman"/>
            </a:endParaRPr>
          </a:p>
          <a:p>
            <a:pPr marL="0" lvl="0" indent="0" algn="l" rtl="0">
              <a:lnSpc>
                <a:spcPct val="115000"/>
              </a:lnSpc>
              <a:spcBef>
                <a:spcPts val="1000"/>
              </a:spcBef>
              <a:spcAft>
                <a:spcPts val="0"/>
              </a:spcAft>
              <a:buNone/>
            </a:pPr>
            <a:r>
              <a:rPr lang="en-US" sz="1800" b="1" dirty="0">
                <a:latin typeface="Times New Roman"/>
                <a:ea typeface="Times New Roman"/>
                <a:cs typeface="Times New Roman"/>
                <a:sym typeface="Times New Roman"/>
              </a:rPr>
              <a:t>Output:</a:t>
            </a:r>
            <a:r>
              <a:rPr lang="en-US" sz="1800" dirty="0">
                <a:latin typeface="Times New Roman"/>
                <a:ea typeface="Times New Roman"/>
                <a:cs typeface="Times New Roman"/>
                <a:sym typeface="Times New Roman"/>
              </a:rPr>
              <a:t> A printable, step-by-step assembly manual for building the physical mosaic.</a:t>
            </a:r>
            <a:endParaRPr sz="1800" dirty="0">
              <a:latin typeface="Times New Roman"/>
              <a:ea typeface="Times New Roman"/>
              <a:cs typeface="Times New Roman"/>
              <a:sym typeface="Times New Roman"/>
            </a:endParaRPr>
          </a:p>
          <a:p>
            <a:pPr marL="0" lvl="0" indent="0" algn="l" rtl="0">
              <a:spcBef>
                <a:spcPts val="1000"/>
              </a:spcBef>
              <a:spcAft>
                <a:spcPts val="0"/>
              </a:spcAft>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1318575" y="2750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Architecture diagram:</a:t>
            </a:r>
            <a:br>
              <a:rPr lang="en-US" sz="2800">
                <a:latin typeface="Times New Roman"/>
                <a:ea typeface="Times New Roman"/>
                <a:cs typeface="Times New Roman"/>
                <a:sym typeface="Times New Roman"/>
              </a:rPr>
            </a:br>
            <a:endParaRPr sz="2800"/>
          </a:p>
        </p:txBody>
      </p:sp>
      <p:grpSp>
        <p:nvGrpSpPr>
          <p:cNvPr id="173" name="Google Shape;173;p25"/>
          <p:cNvGrpSpPr/>
          <p:nvPr/>
        </p:nvGrpSpPr>
        <p:grpSpPr>
          <a:xfrm>
            <a:off x="1415082" y="1746823"/>
            <a:ext cx="9768756" cy="3364356"/>
            <a:chOff x="930110" y="1423221"/>
            <a:chExt cx="9768756" cy="3364356"/>
          </a:xfrm>
        </p:grpSpPr>
        <p:grpSp>
          <p:nvGrpSpPr>
            <p:cNvPr id="174" name="Google Shape;174;p25"/>
            <p:cNvGrpSpPr/>
            <p:nvPr/>
          </p:nvGrpSpPr>
          <p:grpSpPr>
            <a:xfrm>
              <a:off x="930110" y="1423221"/>
              <a:ext cx="1709400" cy="1616576"/>
              <a:chOff x="566530" y="203802"/>
              <a:chExt cx="1709400" cy="1676250"/>
            </a:xfrm>
          </p:grpSpPr>
          <p:sp>
            <p:nvSpPr>
              <p:cNvPr id="175" name="Google Shape;175;p25"/>
              <p:cNvSpPr/>
              <p:nvPr/>
            </p:nvSpPr>
            <p:spPr>
              <a:xfrm>
                <a:off x="566530" y="203803"/>
                <a:ext cx="1709400" cy="1228800"/>
              </a:xfrm>
              <a:prstGeom prst="rect">
                <a:avLst/>
              </a:prstGeom>
              <a:solidFill>
                <a:srgbClr val="FBFF69"/>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highlight>
                    <a:srgbClr val="FFFF00"/>
                  </a:highlight>
                  <a:latin typeface="Times New Roman"/>
                  <a:ea typeface="Times New Roman"/>
                  <a:cs typeface="Times New Roman"/>
                  <a:sym typeface="Times New Roman"/>
                </a:endParaRPr>
              </a:p>
              <a:p>
                <a:pPr marL="0" marR="0" lvl="0" indent="0" algn="ctr" rtl="0">
                  <a:spcBef>
                    <a:spcPts val="0"/>
                  </a:spcBef>
                  <a:spcAft>
                    <a:spcPts val="0"/>
                  </a:spcAft>
                  <a:buNone/>
                </a:pPr>
                <a:endParaRPr sz="1800" b="0" i="0" u="none" strike="noStrike" cap="none">
                  <a:solidFill>
                    <a:schemeClr val="lt1"/>
                  </a:solidFill>
                  <a:highlight>
                    <a:srgbClr val="FFFF00"/>
                  </a:highlight>
                  <a:latin typeface="Times New Roman"/>
                  <a:ea typeface="Times New Roman"/>
                  <a:cs typeface="Times New Roman"/>
                  <a:sym typeface="Times New Roman"/>
                </a:endParaRPr>
              </a:p>
              <a:p>
                <a:pPr marL="0" marR="0" lvl="0" indent="0" algn="ctr" rtl="0">
                  <a:spcBef>
                    <a:spcPts val="0"/>
                  </a:spcBef>
                  <a:spcAft>
                    <a:spcPts val="0"/>
                  </a:spcAft>
                  <a:buNone/>
                </a:pPr>
                <a:endParaRPr sz="1800" b="0" i="0" u="none" strike="noStrike" cap="none">
                  <a:solidFill>
                    <a:schemeClr val="lt1"/>
                  </a:solidFill>
                  <a:highlight>
                    <a:srgbClr val="FFFF00"/>
                  </a:highlight>
                  <a:latin typeface="Times New Roman"/>
                  <a:ea typeface="Times New Roman"/>
                  <a:cs typeface="Times New Roman"/>
                  <a:sym typeface="Times New Roman"/>
                </a:endParaRPr>
              </a:p>
              <a:p>
                <a:pPr marL="171450" marR="0" lvl="0" indent="-171450" algn="l" rtl="0">
                  <a:spcBef>
                    <a:spcPts val="0"/>
                  </a:spcBef>
                  <a:spcAft>
                    <a:spcPts val="0"/>
                  </a:spcAft>
                  <a:buClr>
                    <a:schemeClr val="dk1"/>
                  </a:buClr>
                  <a:buSzPts val="1200"/>
                  <a:buFont typeface="Arial"/>
                  <a:buChar char="•"/>
                </a:pPr>
                <a:r>
                  <a:rPr lang="en-US" sz="1200" b="0" i="0" u="none" strike="noStrike" cap="none">
                    <a:solidFill>
                      <a:schemeClr val="dk1"/>
                    </a:solidFill>
                    <a:highlight>
                      <a:srgbClr val="FFFF00"/>
                    </a:highlight>
                    <a:latin typeface="Times New Roman"/>
                    <a:ea typeface="Times New Roman"/>
                    <a:cs typeface="Times New Roman"/>
                    <a:sym typeface="Times New Roman"/>
                  </a:rPr>
                  <a:t>Select image type </a:t>
                </a:r>
                <a:endParaRPr sz="1200" b="0" i="0" u="none" strike="noStrike" cap="none">
                  <a:solidFill>
                    <a:schemeClr val="dk1"/>
                  </a:solidFill>
                  <a:highlight>
                    <a:srgbClr val="FFFF00"/>
                  </a:highlight>
                  <a:latin typeface="Times New Roman"/>
                  <a:ea typeface="Times New Roman"/>
                  <a:cs typeface="Times New Roman"/>
                  <a:sym typeface="Times New Roman"/>
                </a:endParaRPr>
              </a:p>
              <a:p>
                <a:pPr marL="171450" marR="0" lvl="0" indent="-171450" algn="l" rtl="0">
                  <a:spcBef>
                    <a:spcPts val="0"/>
                  </a:spcBef>
                  <a:spcAft>
                    <a:spcPts val="0"/>
                  </a:spcAft>
                  <a:buClr>
                    <a:schemeClr val="dk1"/>
                  </a:buClr>
                  <a:buSzPts val="1200"/>
                  <a:buFont typeface="Arial"/>
                  <a:buChar char="•"/>
                </a:pPr>
                <a:r>
                  <a:rPr lang="en-US" sz="1200" b="0" i="0" u="none" strike="noStrike" cap="none">
                    <a:solidFill>
                      <a:schemeClr val="dk1"/>
                    </a:solidFill>
                    <a:latin typeface="Times New Roman"/>
                    <a:ea typeface="Times New Roman"/>
                    <a:cs typeface="Times New Roman"/>
                    <a:sym typeface="Times New Roman"/>
                  </a:rPr>
                  <a:t>Validate file path and options</a:t>
                </a:r>
                <a:endParaRPr sz="1200" b="0"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1800" b="0" i="0" u="none" strike="noStrike" cap="none">
                  <a:solidFill>
                    <a:schemeClr val="lt1"/>
                  </a:solidFill>
                  <a:highlight>
                    <a:srgbClr val="FFFF00"/>
                  </a:highlight>
                  <a:latin typeface="Times New Roman"/>
                  <a:ea typeface="Times New Roman"/>
                  <a:cs typeface="Times New Roman"/>
                  <a:sym typeface="Times New Roman"/>
                </a:endParaRPr>
              </a:p>
            </p:txBody>
          </p:sp>
          <p:sp>
            <p:nvSpPr>
              <p:cNvPr id="176" name="Google Shape;176;p25"/>
              <p:cNvSpPr/>
              <p:nvPr/>
            </p:nvSpPr>
            <p:spPr>
              <a:xfrm>
                <a:off x="780156" y="1577652"/>
                <a:ext cx="1318200" cy="302400"/>
              </a:xfrm>
              <a:prstGeom prst="rect">
                <a:avLst/>
              </a:prstGeom>
              <a:solidFill>
                <a:schemeClr val="l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none">
                    <a:solidFill>
                      <a:schemeClr val="dk1"/>
                    </a:solidFill>
                    <a:latin typeface="Times New Roman"/>
                    <a:ea typeface="Times New Roman"/>
                    <a:cs typeface="Times New Roman"/>
                    <a:sym typeface="Times New Roman"/>
                  </a:rPr>
                  <a:t>User Browser</a:t>
                </a:r>
                <a:endParaRPr sz="1600" b="0" i="0" u="none" strike="noStrike" cap="none">
                  <a:solidFill>
                    <a:schemeClr val="dk1"/>
                  </a:solidFill>
                  <a:latin typeface="Times New Roman"/>
                  <a:ea typeface="Times New Roman"/>
                  <a:cs typeface="Times New Roman"/>
                  <a:sym typeface="Times New Roman"/>
                </a:endParaRPr>
              </a:p>
            </p:txBody>
          </p:sp>
          <p:pic>
            <p:nvPicPr>
              <p:cNvPr id="177" name="Google Shape;177;p25"/>
              <p:cNvPicPr preferRelativeResize="0"/>
              <p:nvPr/>
            </p:nvPicPr>
            <p:blipFill rotWithShape="1">
              <a:blip r:embed="rId3">
                <a:alphaModFix/>
              </a:blip>
              <a:srcRect/>
              <a:stretch/>
            </p:blipFill>
            <p:spPr>
              <a:xfrm>
                <a:off x="878624" y="203802"/>
                <a:ext cx="1121310" cy="617329"/>
              </a:xfrm>
              <a:prstGeom prst="rect">
                <a:avLst/>
              </a:prstGeom>
              <a:noFill/>
              <a:ln>
                <a:noFill/>
              </a:ln>
            </p:spPr>
          </p:pic>
        </p:grpSp>
        <p:sp>
          <p:nvSpPr>
            <p:cNvPr id="178" name="Google Shape;178;p25"/>
            <p:cNvSpPr/>
            <p:nvPr/>
          </p:nvSpPr>
          <p:spPr>
            <a:xfrm>
              <a:off x="3063247" y="1956884"/>
              <a:ext cx="530100" cy="197400"/>
            </a:xfrm>
            <a:prstGeom prst="rightArrow">
              <a:avLst>
                <a:gd name="adj1" fmla="val 50000"/>
                <a:gd name="adj2" fmla="val 50000"/>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9" name="Google Shape;179;p25"/>
            <p:cNvSpPr/>
            <p:nvPr/>
          </p:nvSpPr>
          <p:spPr>
            <a:xfrm>
              <a:off x="4119555" y="1696936"/>
              <a:ext cx="1574400" cy="717300"/>
            </a:xfrm>
            <a:prstGeom prst="rect">
              <a:avLst/>
            </a:prstGeom>
            <a:solidFill>
              <a:srgbClr val="FBFF69"/>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200">
                <a:solidFill>
                  <a:schemeClr val="dk1"/>
                </a:solidFill>
                <a:latin typeface="Times New Roman"/>
                <a:ea typeface="Times New Roman"/>
                <a:cs typeface="Times New Roman"/>
                <a:sym typeface="Times New Roman"/>
              </a:endParaRPr>
            </a:p>
            <a:p>
              <a:pPr marL="171450" marR="0" lvl="0" indent="-171450" algn="l" rtl="0">
                <a:spcBef>
                  <a:spcPts val="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Compute printable area from page size and margins</a:t>
              </a:r>
              <a:endParaRPr sz="12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80" name="Google Shape;180;p25"/>
            <p:cNvSpPr/>
            <p:nvPr/>
          </p:nvSpPr>
          <p:spPr>
            <a:xfrm>
              <a:off x="4212237" y="2783267"/>
              <a:ext cx="1407900" cy="256500"/>
            </a:xfrm>
            <a:prstGeom prst="rect">
              <a:avLst/>
            </a:prstGeom>
            <a:solidFill>
              <a:schemeClr val="l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 Grid planning</a:t>
              </a:r>
              <a:endParaRPr sz="1600">
                <a:solidFill>
                  <a:schemeClr val="dk1"/>
                </a:solidFill>
                <a:latin typeface="Times New Roman"/>
                <a:ea typeface="Times New Roman"/>
                <a:cs typeface="Times New Roman"/>
                <a:sym typeface="Times New Roman"/>
              </a:endParaRPr>
            </a:p>
          </p:txBody>
        </p:sp>
        <p:sp>
          <p:nvSpPr>
            <p:cNvPr id="181" name="Google Shape;181;p25"/>
            <p:cNvSpPr/>
            <p:nvPr/>
          </p:nvSpPr>
          <p:spPr>
            <a:xfrm>
              <a:off x="6258209" y="1917114"/>
              <a:ext cx="511500" cy="197400"/>
            </a:xfrm>
            <a:prstGeom prst="rightArrow">
              <a:avLst>
                <a:gd name="adj1" fmla="val 50000"/>
                <a:gd name="adj2" fmla="val 50000"/>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25"/>
            <p:cNvSpPr/>
            <p:nvPr/>
          </p:nvSpPr>
          <p:spPr>
            <a:xfrm>
              <a:off x="7291682" y="1696936"/>
              <a:ext cx="2159700" cy="717300"/>
            </a:xfrm>
            <a:prstGeom prst="rect">
              <a:avLst/>
            </a:prstGeom>
            <a:solidFill>
              <a:srgbClr val="FBFF69"/>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171450" marR="0" lvl="0" indent="-95250" algn="l" rtl="0">
                <a:spcBef>
                  <a:spcPts val="0"/>
                </a:spcBef>
                <a:spcAft>
                  <a:spcPts val="0"/>
                </a:spcAft>
                <a:buClr>
                  <a:schemeClr val="dk1"/>
                </a:buClr>
                <a:buSzPts val="1200"/>
                <a:buFont typeface="Arial"/>
                <a:buNone/>
              </a:pPr>
              <a:endParaRPr sz="1200">
                <a:solidFill>
                  <a:schemeClr val="dk1"/>
                </a:solidFill>
                <a:latin typeface="Times New Roman"/>
                <a:ea typeface="Times New Roman"/>
                <a:cs typeface="Times New Roman"/>
                <a:sym typeface="Times New Roman"/>
              </a:endParaRPr>
            </a:p>
            <a:p>
              <a:pPr marL="171450" marR="0" lvl="0" indent="-171450" algn="l" rtl="0">
                <a:spcBef>
                  <a:spcPts val="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Load image and convert to </a:t>
              </a:r>
              <a:endParaRPr sz="1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     RGB by using Colour-space </a:t>
              </a:r>
              <a:endParaRPr sz="1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     convert</a:t>
              </a:r>
              <a:endParaRPr sz="1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200">
                <a:solidFill>
                  <a:schemeClr val="dk1"/>
                </a:solidFill>
                <a:latin typeface="Times New Roman"/>
                <a:ea typeface="Times New Roman"/>
                <a:cs typeface="Times New Roman"/>
                <a:sym typeface="Times New Roman"/>
              </a:endParaRPr>
            </a:p>
          </p:txBody>
        </p:sp>
        <p:sp>
          <p:nvSpPr>
            <p:cNvPr id="183" name="Google Shape;183;p25"/>
            <p:cNvSpPr/>
            <p:nvPr/>
          </p:nvSpPr>
          <p:spPr>
            <a:xfrm>
              <a:off x="7545599" y="2814860"/>
              <a:ext cx="1754100" cy="210600"/>
            </a:xfrm>
            <a:prstGeom prst="rect">
              <a:avLst/>
            </a:prstGeom>
            <a:solidFill>
              <a:schemeClr val="l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 Image preparation</a:t>
              </a:r>
              <a:endParaRPr sz="1600">
                <a:solidFill>
                  <a:schemeClr val="dk1"/>
                </a:solidFill>
                <a:latin typeface="Times New Roman"/>
                <a:ea typeface="Times New Roman"/>
                <a:cs typeface="Times New Roman"/>
                <a:sym typeface="Times New Roman"/>
              </a:endParaRPr>
            </a:p>
          </p:txBody>
        </p:sp>
        <p:sp>
          <p:nvSpPr>
            <p:cNvPr id="184" name="Google Shape;184;p25"/>
            <p:cNvSpPr/>
            <p:nvPr/>
          </p:nvSpPr>
          <p:spPr>
            <a:xfrm rot="10800000">
              <a:off x="6244040" y="3758811"/>
              <a:ext cx="539700" cy="198300"/>
            </a:xfrm>
            <a:prstGeom prst="rightArrow">
              <a:avLst>
                <a:gd name="adj1" fmla="val 50000"/>
                <a:gd name="adj2" fmla="val 50000"/>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25"/>
            <p:cNvSpPr/>
            <p:nvPr/>
          </p:nvSpPr>
          <p:spPr>
            <a:xfrm>
              <a:off x="7545599" y="4531377"/>
              <a:ext cx="1827000" cy="256200"/>
            </a:xfrm>
            <a:prstGeom prst="rect">
              <a:avLst/>
            </a:prstGeom>
            <a:solidFill>
              <a:schemeClr val="l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Colour quantization</a:t>
              </a:r>
              <a:endParaRPr sz="1600">
                <a:solidFill>
                  <a:schemeClr val="dk1"/>
                </a:solidFill>
                <a:latin typeface="Times New Roman"/>
                <a:ea typeface="Times New Roman"/>
                <a:cs typeface="Times New Roman"/>
                <a:sym typeface="Times New Roman"/>
              </a:endParaRPr>
            </a:p>
          </p:txBody>
        </p:sp>
        <p:grpSp>
          <p:nvGrpSpPr>
            <p:cNvPr id="186" name="Google Shape;186;p25"/>
            <p:cNvGrpSpPr/>
            <p:nvPr/>
          </p:nvGrpSpPr>
          <p:grpSpPr>
            <a:xfrm>
              <a:off x="7190067" y="3362998"/>
              <a:ext cx="2702913" cy="1130376"/>
              <a:chOff x="8022312" y="1646873"/>
              <a:chExt cx="3006912" cy="1208700"/>
            </a:xfrm>
          </p:grpSpPr>
          <p:sp>
            <p:nvSpPr>
              <p:cNvPr id="187" name="Google Shape;187;p25"/>
              <p:cNvSpPr/>
              <p:nvPr/>
            </p:nvSpPr>
            <p:spPr>
              <a:xfrm>
                <a:off x="8022324" y="1646873"/>
                <a:ext cx="3006900" cy="1208700"/>
              </a:xfrm>
              <a:prstGeom prst="rect">
                <a:avLst/>
              </a:prstGeom>
              <a:solidFill>
                <a:srgbClr val="FBFF69"/>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1200">
                  <a:solidFill>
                    <a:schemeClr val="lt1"/>
                  </a:solidFill>
                  <a:latin typeface="Times New Roman"/>
                  <a:ea typeface="Times New Roman"/>
                  <a:cs typeface="Times New Roman"/>
                  <a:sym typeface="Times New Roman"/>
                </a:endParaRPr>
              </a:p>
              <a:p>
                <a:pPr marL="171450" marR="0" lvl="0" indent="-171450" algn="l" rtl="0">
                  <a:spcBef>
                    <a:spcPts val="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Map each pixel/region to the nearest palette color using the CIEDE2000 Perceptual Difference Algorithm.</a:t>
                </a:r>
                <a:endParaRPr sz="1200">
                  <a:solidFill>
                    <a:schemeClr val="dk1"/>
                  </a:solidFill>
                  <a:latin typeface="Times New Roman"/>
                  <a:ea typeface="Times New Roman"/>
                  <a:cs typeface="Times New Roman"/>
                  <a:sym typeface="Times New Roman"/>
                </a:endParaRPr>
              </a:p>
            </p:txBody>
          </p:sp>
          <p:grpSp>
            <p:nvGrpSpPr>
              <p:cNvPr id="188" name="Google Shape;188;p25"/>
              <p:cNvGrpSpPr/>
              <p:nvPr/>
            </p:nvGrpSpPr>
            <p:grpSpPr>
              <a:xfrm>
                <a:off x="8022312" y="1646879"/>
                <a:ext cx="3006899" cy="507679"/>
                <a:chOff x="7554971" y="3167343"/>
                <a:chExt cx="3006899" cy="507679"/>
              </a:xfrm>
            </p:grpSpPr>
            <p:pic>
              <p:nvPicPr>
                <p:cNvPr id="189" name="Google Shape;189;p25" descr="A close-up of a baby&#10;&#10;AI-generated content may be incorrect."/>
                <p:cNvPicPr preferRelativeResize="0"/>
                <p:nvPr/>
              </p:nvPicPr>
              <p:blipFill rotWithShape="1">
                <a:blip r:embed="rId4">
                  <a:alphaModFix/>
                </a:blip>
                <a:srcRect/>
                <a:stretch/>
              </p:blipFill>
              <p:spPr>
                <a:xfrm>
                  <a:off x="9547672" y="3167343"/>
                  <a:ext cx="1014198" cy="485503"/>
                </a:xfrm>
                <a:prstGeom prst="rect">
                  <a:avLst/>
                </a:prstGeom>
                <a:noFill/>
                <a:ln>
                  <a:noFill/>
                </a:ln>
              </p:spPr>
            </p:pic>
            <p:pic>
              <p:nvPicPr>
                <p:cNvPr id="190" name="Google Shape;190;p25" descr="A child with curly hair looking at the camera&#10;&#10;AI-generated content may be incorrect."/>
                <p:cNvPicPr preferRelativeResize="0"/>
                <p:nvPr/>
              </p:nvPicPr>
              <p:blipFill rotWithShape="1">
                <a:blip r:embed="rId5">
                  <a:alphaModFix/>
                </a:blip>
                <a:srcRect/>
                <a:stretch/>
              </p:blipFill>
              <p:spPr>
                <a:xfrm>
                  <a:off x="7554971" y="3178171"/>
                  <a:ext cx="1014197" cy="496851"/>
                </a:xfrm>
                <a:prstGeom prst="rect">
                  <a:avLst/>
                </a:prstGeom>
                <a:noFill/>
                <a:ln>
                  <a:noFill/>
                </a:ln>
              </p:spPr>
            </p:pic>
          </p:grpSp>
        </p:grpSp>
        <p:cxnSp>
          <p:nvCxnSpPr>
            <p:cNvPr id="191" name="Google Shape;191;p25"/>
            <p:cNvCxnSpPr/>
            <p:nvPr/>
          </p:nvCxnSpPr>
          <p:spPr>
            <a:xfrm>
              <a:off x="8402322" y="3605446"/>
              <a:ext cx="278400" cy="0"/>
            </a:xfrm>
            <a:prstGeom prst="straightConnector1">
              <a:avLst/>
            </a:prstGeom>
            <a:noFill/>
            <a:ln w="9525" cap="flat" cmpd="sng">
              <a:solidFill>
                <a:schemeClr val="dk1"/>
              </a:solidFill>
              <a:prstDash val="solid"/>
              <a:miter lim="800000"/>
              <a:headEnd type="none" w="sm" len="sm"/>
              <a:tailEnd type="triangle" w="med" len="med"/>
            </a:ln>
          </p:spPr>
        </p:cxnSp>
        <p:sp>
          <p:nvSpPr>
            <p:cNvPr id="192" name="Google Shape;192;p25"/>
            <p:cNvSpPr/>
            <p:nvPr/>
          </p:nvSpPr>
          <p:spPr>
            <a:xfrm>
              <a:off x="3938334" y="3524596"/>
              <a:ext cx="2070900" cy="739500"/>
            </a:xfrm>
            <a:prstGeom prst="rect">
              <a:avLst/>
            </a:prstGeom>
            <a:solidFill>
              <a:srgbClr val="FBFF69"/>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For each triangle cell, collect pixels inside the cell Choose a representative color index</a:t>
              </a:r>
              <a:endParaRPr sz="1200">
                <a:solidFill>
                  <a:schemeClr val="dk1"/>
                </a:solidFill>
                <a:latin typeface="Times New Roman"/>
                <a:ea typeface="Times New Roman"/>
                <a:cs typeface="Times New Roman"/>
                <a:sym typeface="Times New Roman"/>
              </a:endParaRPr>
            </a:p>
          </p:txBody>
        </p:sp>
        <p:sp>
          <p:nvSpPr>
            <p:cNvPr id="193" name="Google Shape;193;p25"/>
            <p:cNvSpPr/>
            <p:nvPr/>
          </p:nvSpPr>
          <p:spPr>
            <a:xfrm>
              <a:off x="4096730" y="4576940"/>
              <a:ext cx="1754100" cy="210600"/>
            </a:xfrm>
            <a:prstGeom prst="rect">
              <a:avLst/>
            </a:prstGeom>
            <a:solidFill>
              <a:schemeClr val="l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Tile Assignment</a:t>
              </a:r>
              <a:endParaRPr sz="1600">
                <a:solidFill>
                  <a:schemeClr val="dk1"/>
                </a:solidFill>
                <a:latin typeface="Times New Roman"/>
                <a:ea typeface="Times New Roman"/>
                <a:cs typeface="Times New Roman"/>
                <a:sym typeface="Times New Roman"/>
              </a:endParaRPr>
            </a:p>
          </p:txBody>
        </p:sp>
        <p:sp>
          <p:nvSpPr>
            <p:cNvPr id="194" name="Google Shape;194;p25"/>
            <p:cNvSpPr/>
            <p:nvPr/>
          </p:nvSpPr>
          <p:spPr>
            <a:xfrm>
              <a:off x="3019760" y="3758882"/>
              <a:ext cx="539700" cy="198300"/>
            </a:xfrm>
            <a:prstGeom prst="leftArrow">
              <a:avLst>
                <a:gd name="adj1" fmla="val 50000"/>
                <a:gd name="adj2" fmla="val 50000"/>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25"/>
            <p:cNvSpPr/>
            <p:nvPr/>
          </p:nvSpPr>
          <p:spPr>
            <a:xfrm>
              <a:off x="1143736" y="3424486"/>
              <a:ext cx="1277100" cy="839700"/>
            </a:xfrm>
            <a:prstGeom prst="rect">
              <a:avLst/>
            </a:prstGeom>
            <a:solidFill>
              <a:srgbClr val="FBFF69"/>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171450" marR="0" lvl="0" indent="-95250" algn="l" rtl="0">
                <a:spcBef>
                  <a:spcPts val="0"/>
                </a:spcBef>
                <a:spcAft>
                  <a:spcPts val="0"/>
                </a:spcAft>
                <a:buClr>
                  <a:schemeClr val="dk1"/>
                </a:buClr>
                <a:buSzPts val="1200"/>
                <a:buFont typeface="Arial"/>
                <a:buNone/>
              </a:pPr>
              <a:endParaRPr sz="1200">
                <a:solidFill>
                  <a:schemeClr val="dk1"/>
                </a:solidFill>
                <a:latin typeface="Times New Roman"/>
                <a:ea typeface="Times New Roman"/>
                <a:cs typeface="Times New Roman"/>
                <a:sym typeface="Times New Roman"/>
              </a:endParaRPr>
            </a:p>
            <a:p>
              <a:pPr marL="171450" marR="0" lvl="0" indent="-95250" algn="l" rtl="0">
                <a:spcBef>
                  <a:spcPts val="0"/>
                </a:spcBef>
                <a:spcAft>
                  <a:spcPts val="0"/>
                </a:spcAft>
                <a:buClr>
                  <a:schemeClr val="dk1"/>
                </a:buClr>
                <a:buSzPts val="1200"/>
                <a:buFont typeface="Arial"/>
                <a:buNone/>
              </a:pPr>
              <a:endParaRPr sz="1200">
                <a:solidFill>
                  <a:schemeClr val="dk1"/>
                </a:solidFill>
                <a:latin typeface="Times New Roman"/>
                <a:ea typeface="Times New Roman"/>
                <a:cs typeface="Times New Roman"/>
                <a:sym typeface="Times New Roman"/>
              </a:endParaRPr>
            </a:p>
            <a:p>
              <a:pPr marL="171450" marR="0" lvl="0" indent="-171450" algn="l" rtl="0">
                <a:spcBef>
                  <a:spcPts val="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Pdf mosaic representation</a:t>
              </a:r>
              <a:endParaRPr sz="1200">
                <a:solidFill>
                  <a:schemeClr val="dk1"/>
                </a:solidFill>
                <a:latin typeface="Times New Roman"/>
                <a:ea typeface="Times New Roman"/>
                <a:cs typeface="Times New Roman"/>
                <a:sym typeface="Times New Roman"/>
              </a:endParaRPr>
            </a:p>
          </p:txBody>
        </p:sp>
        <p:pic>
          <p:nvPicPr>
            <p:cNvPr id="196" name="Google Shape;196;p25" descr="PDF - Wikipedia"/>
            <p:cNvPicPr preferRelativeResize="0"/>
            <p:nvPr/>
          </p:nvPicPr>
          <p:blipFill rotWithShape="1">
            <a:blip r:embed="rId6">
              <a:alphaModFix/>
            </a:blip>
            <a:srcRect/>
            <a:stretch/>
          </p:blipFill>
          <p:spPr>
            <a:xfrm>
              <a:off x="1616355" y="3424486"/>
              <a:ext cx="331716" cy="389430"/>
            </a:xfrm>
            <a:prstGeom prst="rect">
              <a:avLst/>
            </a:prstGeom>
            <a:noFill/>
            <a:ln>
              <a:noFill/>
            </a:ln>
          </p:spPr>
        </p:pic>
        <p:sp>
          <p:nvSpPr>
            <p:cNvPr id="197" name="Google Shape;197;p25"/>
            <p:cNvSpPr/>
            <p:nvPr/>
          </p:nvSpPr>
          <p:spPr>
            <a:xfrm>
              <a:off x="1050705" y="4531377"/>
              <a:ext cx="1588800" cy="210600"/>
            </a:xfrm>
            <a:prstGeom prst="rect">
              <a:avLst/>
            </a:prstGeom>
            <a:solidFill>
              <a:schemeClr val="l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Output</a:t>
              </a:r>
              <a:endParaRPr sz="1600">
                <a:solidFill>
                  <a:schemeClr val="dk1"/>
                </a:solidFill>
                <a:latin typeface="Times New Roman"/>
                <a:ea typeface="Times New Roman"/>
                <a:cs typeface="Times New Roman"/>
                <a:sym typeface="Times New Roman"/>
              </a:endParaRPr>
            </a:p>
          </p:txBody>
        </p:sp>
        <p:sp>
          <p:nvSpPr>
            <p:cNvPr id="198" name="Google Shape;198;p25"/>
            <p:cNvSpPr/>
            <p:nvPr/>
          </p:nvSpPr>
          <p:spPr>
            <a:xfrm>
              <a:off x="10186466" y="2496442"/>
              <a:ext cx="512400" cy="927900"/>
            </a:xfrm>
            <a:prstGeom prst="curvedLeftArrow">
              <a:avLst>
                <a:gd name="adj1" fmla="val 25000"/>
                <a:gd name="adj2" fmla="val 50000"/>
                <a:gd name="adj3" fmla="val 25000"/>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
        <p:nvSpPr>
          <p:cNvPr id="199" name="Google Shape;199;p25"/>
          <p:cNvSpPr txBox="1"/>
          <p:nvPr/>
        </p:nvSpPr>
        <p:spPr>
          <a:xfrm>
            <a:off x="4166235" y="5970270"/>
            <a:ext cx="4064100" cy="368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Times New Roman"/>
                <a:ea typeface="Times New Roman"/>
                <a:cs typeface="Times New Roman"/>
                <a:sym typeface="Times New Roman"/>
              </a:rPr>
              <a:t>Implementation steps and Execution:</a:t>
            </a:r>
            <a:endParaRPr sz="3200">
              <a:latin typeface="Times New Roman"/>
              <a:ea typeface="Times New Roman"/>
              <a:cs typeface="Times New Roman"/>
              <a:sym typeface="Times New Roman"/>
            </a:endParaRPr>
          </a:p>
        </p:txBody>
      </p:sp>
      <p:sp>
        <p:nvSpPr>
          <p:cNvPr id="206" name="Google Shape;206;p2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b="1" dirty="0">
                <a:latin typeface="Times New Roman"/>
                <a:ea typeface="Times New Roman"/>
                <a:cs typeface="Times New Roman"/>
                <a:sym typeface="Times New Roman"/>
              </a:rPr>
              <a:t>Environment: </a:t>
            </a:r>
            <a:r>
              <a:rPr lang="en-US" sz="1800" dirty="0">
                <a:latin typeface="Times New Roman"/>
                <a:ea typeface="Times New Roman"/>
                <a:cs typeface="Times New Roman"/>
                <a:sym typeface="Times New Roman"/>
              </a:rPr>
              <a:t>The project operates in a Python 3 backend environment using the Flask web framework, allowing for a seamless bridge between a high-performance image processing engine and a browser-based user interface. It leverages OpenCV and NumPy as its primary computational powerhouses to handle complex geometric and chromatic transformations.</a:t>
            </a:r>
            <a:br>
              <a:rPr lang="en-US" sz="1800" dirty="0">
                <a:latin typeface="Times New Roman"/>
                <a:ea typeface="Times New Roman"/>
                <a:cs typeface="Times New Roman"/>
                <a:sym typeface="Times New Roman"/>
              </a:rPr>
            </a:br>
            <a:endParaRPr sz="1800" dirty="0">
              <a:latin typeface="Times New Roman"/>
              <a:ea typeface="Times New Roman"/>
              <a:cs typeface="Times New Roman"/>
              <a:sym typeface="Times New Roman"/>
            </a:endParaRPr>
          </a:p>
          <a:p>
            <a:pPr marL="0" lvl="0" indent="0" algn="l" rtl="0">
              <a:spcBef>
                <a:spcPts val="1000"/>
              </a:spcBef>
              <a:spcAft>
                <a:spcPts val="0"/>
              </a:spcAft>
              <a:buNone/>
            </a:pPr>
            <a:r>
              <a:rPr lang="en-US" sz="1800" b="1" dirty="0">
                <a:latin typeface="Times New Roman"/>
                <a:ea typeface="Times New Roman"/>
                <a:cs typeface="Times New Roman"/>
                <a:sym typeface="Times New Roman"/>
              </a:rPr>
              <a:t>Data Pipeline:</a:t>
            </a:r>
            <a:r>
              <a:rPr lang="en-US" sz="1800" dirty="0">
                <a:latin typeface="Times New Roman"/>
                <a:ea typeface="Times New Roman"/>
                <a:cs typeface="Times New Roman"/>
                <a:sym typeface="Times New Roman"/>
              </a:rPr>
              <a:t> The pipeline follows a rigorous flow: it standardizes raw images through signal conditioning, maps them onto a non-orthogonal triangular grid, and performs perceptual color quantization. </a:t>
            </a:r>
            <a:br>
              <a:rPr lang="en-US" sz="1800" dirty="0">
                <a:latin typeface="Times New Roman"/>
                <a:ea typeface="Times New Roman"/>
                <a:cs typeface="Times New Roman"/>
                <a:sym typeface="Times New Roman"/>
              </a:rPr>
            </a:br>
            <a:endParaRPr sz="1800" dirty="0">
              <a:latin typeface="Times New Roman"/>
              <a:ea typeface="Times New Roman"/>
              <a:cs typeface="Times New Roman"/>
              <a:sym typeface="Times New Roman"/>
            </a:endParaRPr>
          </a:p>
          <a:p>
            <a:pPr marL="0" lvl="0" indent="0" algn="l" rtl="0">
              <a:spcBef>
                <a:spcPts val="1000"/>
              </a:spcBef>
              <a:spcAft>
                <a:spcPts val="0"/>
              </a:spcAft>
              <a:buNone/>
            </a:pPr>
            <a:r>
              <a:rPr lang="en-US" sz="1800" b="1" dirty="0">
                <a:latin typeface="Times New Roman"/>
                <a:ea typeface="Times New Roman"/>
                <a:cs typeface="Times New Roman"/>
                <a:sym typeface="Times New Roman"/>
              </a:rPr>
              <a:t>Hardware Acceleration: </a:t>
            </a:r>
            <a:r>
              <a:rPr lang="en-US" sz="1800" dirty="0">
                <a:latin typeface="Times New Roman"/>
                <a:ea typeface="Times New Roman"/>
                <a:cs typeface="Times New Roman"/>
                <a:sym typeface="Times New Roman"/>
              </a:rPr>
              <a:t>Performance is optimized through NumPy’s vectorized matrix operations, which allow the CPU to process thousands of triangle coordinates and color distances in parallel rather than sequentially.</a:t>
            </a:r>
            <a:endParaRPr sz="1800"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Times New Roman"/>
                <a:ea typeface="Times New Roman"/>
                <a:cs typeface="Times New Roman"/>
                <a:sym typeface="Times New Roman"/>
              </a:rPr>
              <a:t>Implementation steps and Execution:</a:t>
            </a:r>
            <a:endParaRPr/>
          </a:p>
        </p:txBody>
      </p:sp>
      <p:sp>
        <p:nvSpPr>
          <p:cNvPr id="213" name="Google Shape;213;p2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b="1">
                <a:latin typeface="Times New Roman"/>
                <a:ea typeface="Times New Roman"/>
                <a:cs typeface="Times New Roman"/>
                <a:sym typeface="Times New Roman"/>
              </a:rPr>
              <a:t>Optimization Strategy: </a:t>
            </a:r>
            <a:r>
              <a:rPr lang="en-US" sz="1800">
                <a:latin typeface="Times New Roman"/>
                <a:ea typeface="Times New Roman"/>
                <a:cs typeface="Times New Roman"/>
                <a:sym typeface="Times New Roman"/>
              </a:rPr>
              <a:t>The project employs a 70/30 Edge-to-Center weighted sampling strategy to prioritize the structural bones of an image over its homogeneous regions. This is combined with the CIEDE2000 color difference formula, which optimizes the final selection to match how humans actually perceive color rather than just relying on raw mathematical distance.</a:t>
            </a:r>
            <a:endParaRPr sz="1800">
              <a:latin typeface="Times New Roman"/>
              <a:ea typeface="Times New Roman"/>
              <a:cs typeface="Times New Roman"/>
              <a:sym typeface="Times New Roman"/>
            </a:endParaRPr>
          </a:p>
          <a:p>
            <a:pPr marL="0" lvl="0" indent="0" algn="l" rtl="0">
              <a:spcBef>
                <a:spcPts val="1000"/>
              </a:spcBef>
              <a:spcAft>
                <a:spcPts val="0"/>
              </a:spcAft>
              <a:buNone/>
            </a:pPr>
            <a:endParaRPr sz="1800">
              <a:latin typeface="Times New Roman"/>
              <a:ea typeface="Times New Roman"/>
              <a:cs typeface="Times New Roman"/>
              <a:sym typeface="Times New Roman"/>
            </a:endParaRPr>
          </a:p>
          <a:p>
            <a:pPr marL="0" lvl="0" indent="0" algn="l" rtl="0">
              <a:spcBef>
                <a:spcPts val="1000"/>
              </a:spcBef>
              <a:spcAft>
                <a:spcPts val="0"/>
              </a:spcAft>
              <a:buNone/>
            </a:pPr>
            <a:r>
              <a:rPr lang="en-US" sz="1800" b="1">
                <a:latin typeface="Times New Roman"/>
                <a:ea typeface="Times New Roman"/>
                <a:cs typeface="Times New Roman"/>
                <a:sym typeface="Times New Roman"/>
              </a:rPr>
              <a:t>Evaluation Metric:</a:t>
            </a:r>
            <a:r>
              <a:rPr lang="en-US" sz="1800">
                <a:latin typeface="Times New Roman"/>
                <a:ea typeface="Times New Roman"/>
                <a:cs typeface="Times New Roman"/>
                <a:sym typeface="Times New Roman"/>
              </a:rPr>
              <a:t> Success is measured by a Color Fidelity score, which calculates the average perceptual distance in the CIE Lab color space between the original photo and the 4-color mosaic.</a:t>
            </a:r>
            <a:endParaRPr sz="1800">
              <a:latin typeface="Times New Roman"/>
              <a:ea typeface="Times New Roman"/>
              <a:cs typeface="Times New Roman"/>
              <a:sym typeface="Times New Roman"/>
            </a:endParaRPr>
          </a:p>
          <a:p>
            <a:pPr marL="0" lvl="0" indent="0" algn="l" rtl="0">
              <a:spcBef>
                <a:spcPts val="1000"/>
              </a:spcBef>
              <a:spcAft>
                <a:spcPts val="0"/>
              </a:spcAft>
              <a:buNone/>
            </a:pPr>
            <a:endParaRPr sz="1800">
              <a:latin typeface="Times New Roman"/>
              <a:ea typeface="Times New Roman"/>
              <a:cs typeface="Times New Roman"/>
              <a:sym typeface="Times New Roman"/>
            </a:endParaRPr>
          </a:p>
          <a:p>
            <a:pPr marL="0" lvl="0" indent="0" algn="l" rtl="0">
              <a:spcBef>
                <a:spcPts val="1000"/>
              </a:spcBef>
              <a:spcAft>
                <a:spcPts val="0"/>
              </a:spcAft>
              <a:buNone/>
            </a:pPr>
            <a:r>
              <a:rPr lang="en-US" sz="1800" b="1">
                <a:latin typeface="Times New Roman"/>
                <a:ea typeface="Times New Roman"/>
                <a:cs typeface="Times New Roman"/>
                <a:sym typeface="Times New Roman"/>
              </a:rPr>
              <a:t>Overfit Prevention:</a:t>
            </a:r>
            <a:r>
              <a:rPr lang="en-US" sz="1800">
                <a:latin typeface="Times New Roman"/>
                <a:ea typeface="Times New Roman"/>
                <a:cs typeface="Times New Roman"/>
                <a:sym typeface="Times New Roman"/>
              </a:rPr>
              <a:t> To prevent the algorithm from overfitting to specific lighting conditions or digital noise, we use Bilateral filtering and Adaptive Signal Conditioning.</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Arial"/>
                <a:ea typeface="Arial"/>
                <a:cs typeface="Arial"/>
                <a:sym typeface="Arial"/>
              </a:rPr>
              <a:t>Results Obtained:</a:t>
            </a:r>
            <a:endParaRPr sz="2800">
              <a:latin typeface="Times New Roman"/>
              <a:ea typeface="Times New Roman"/>
              <a:cs typeface="Times New Roman"/>
              <a:sym typeface="Times New Roman"/>
            </a:endParaRPr>
          </a:p>
        </p:txBody>
      </p:sp>
      <p:pic>
        <p:nvPicPr>
          <p:cNvPr id="220" name="Google Shape;220;p28"/>
          <p:cNvPicPr preferRelativeResize="0"/>
          <p:nvPr/>
        </p:nvPicPr>
        <p:blipFill>
          <a:blip r:embed="rId3">
            <a:alphaModFix/>
          </a:blip>
          <a:stretch>
            <a:fillRect/>
          </a:stretch>
        </p:blipFill>
        <p:spPr>
          <a:xfrm>
            <a:off x="3533538" y="4827963"/>
            <a:ext cx="5267325" cy="981075"/>
          </a:xfrm>
          <a:prstGeom prst="rect">
            <a:avLst/>
          </a:prstGeom>
          <a:noFill/>
          <a:ln>
            <a:noFill/>
          </a:ln>
        </p:spPr>
      </p:pic>
      <p:sp>
        <p:nvSpPr>
          <p:cNvPr id="221" name="Google Shape;221;p28"/>
          <p:cNvSpPr/>
          <p:nvPr/>
        </p:nvSpPr>
        <p:spPr>
          <a:xfrm>
            <a:off x="5251222" y="2500247"/>
            <a:ext cx="913200" cy="323400"/>
          </a:xfrm>
          <a:prstGeom prst="rightArrow">
            <a:avLst>
              <a:gd name="adj1" fmla="val 50000"/>
              <a:gd name="adj2" fmla="val 50000"/>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2" name="Google Shape;222;p28"/>
          <p:cNvPicPr preferRelativeResize="0"/>
          <p:nvPr/>
        </p:nvPicPr>
        <p:blipFill>
          <a:blip r:embed="rId4">
            <a:alphaModFix/>
          </a:blip>
          <a:stretch>
            <a:fillRect/>
          </a:stretch>
        </p:blipFill>
        <p:spPr>
          <a:xfrm>
            <a:off x="784300" y="1411443"/>
            <a:ext cx="4163251" cy="2913732"/>
          </a:xfrm>
          <a:prstGeom prst="rect">
            <a:avLst/>
          </a:prstGeom>
          <a:noFill/>
          <a:ln>
            <a:noFill/>
          </a:ln>
        </p:spPr>
      </p:pic>
      <p:pic>
        <p:nvPicPr>
          <p:cNvPr id="223" name="Google Shape;223;p28"/>
          <p:cNvPicPr preferRelativeResize="0"/>
          <p:nvPr/>
        </p:nvPicPr>
        <p:blipFill>
          <a:blip r:embed="rId5">
            <a:alphaModFix/>
          </a:blip>
          <a:stretch>
            <a:fillRect/>
          </a:stretch>
        </p:blipFill>
        <p:spPr>
          <a:xfrm>
            <a:off x="6568849" y="1366525"/>
            <a:ext cx="4050075" cy="29137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838200" y="365125"/>
            <a:ext cx="10515600" cy="1038600"/>
          </a:xfrm>
          <a:prstGeom prst="rect">
            <a:avLst/>
          </a:prstGeom>
        </p:spPr>
        <p:txBody>
          <a:bodyPr spcFirstLastPara="1" wrap="square" lIns="91425" tIns="45700" rIns="91425" bIns="45700" anchor="ctr" anchorCtr="0">
            <a:normAutofit/>
          </a:bodyPr>
          <a:lstStyle/>
          <a:p>
            <a:pPr marL="0" lvl="0" indent="0" algn="l" rtl="0">
              <a:lnSpc>
                <a:spcPct val="108000"/>
              </a:lnSpc>
              <a:spcBef>
                <a:spcPts val="0"/>
              </a:spcBef>
              <a:spcAft>
                <a:spcPts val="0"/>
              </a:spcAft>
              <a:buNone/>
            </a:pPr>
            <a:r>
              <a:rPr lang="en-US" sz="3200" b="1">
                <a:latin typeface="Arial"/>
                <a:ea typeface="Arial"/>
                <a:cs typeface="Arial"/>
                <a:sym typeface="Arial"/>
              </a:rPr>
              <a:t>Results Obtained:</a:t>
            </a:r>
            <a:endParaRPr/>
          </a:p>
        </p:txBody>
      </p:sp>
      <p:sp>
        <p:nvSpPr>
          <p:cNvPr id="230" name="Google Shape;230;p29"/>
          <p:cNvSpPr/>
          <p:nvPr/>
        </p:nvSpPr>
        <p:spPr>
          <a:xfrm>
            <a:off x="5332072" y="2850647"/>
            <a:ext cx="913200" cy="323400"/>
          </a:xfrm>
          <a:prstGeom prst="rightArrow">
            <a:avLst>
              <a:gd name="adj1" fmla="val 50000"/>
              <a:gd name="adj2" fmla="val 50000"/>
            </a:avLst>
          </a:prstGeom>
          <a:solidFill>
            <a:schemeClr val="accent1"/>
          </a:solidFill>
          <a:ln w="12700" cap="flat" cmpd="sng">
            <a:solidFill>
              <a:srgbClr val="2641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1" name="Google Shape;231;p29"/>
          <p:cNvPicPr preferRelativeResize="0"/>
          <p:nvPr/>
        </p:nvPicPr>
        <p:blipFill>
          <a:blip r:embed="rId3">
            <a:alphaModFix/>
          </a:blip>
          <a:stretch>
            <a:fillRect/>
          </a:stretch>
        </p:blipFill>
        <p:spPr>
          <a:xfrm>
            <a:off x="1663979" y="1466638"/>
            <a:ext cx="3003150" cy="3504150"/>
          </a:xfrm>
          <a:prstGeom prst="rect">
            <a:avLst/>
          </a:prstGeom>
          <a:noFill/>
          <a:ln>
            <a:noFill/>
          </a:ln>
        </p:spPr>
      </p:pic>
      <p:pic>
        <p:nvPicPr>
          <p:cNvPr id="232" name="Google Shape;232;p29">
            <a:hlinkClick r:id="rId4"/>
          </p:cNvPr>
          <p:cNvPicPr preferRelativeResize="0"/>
          <p:nvPr/>
        </p:nvPicPr>
        <p:blipFill>
          <a:blip r:embed="rId5">
            <a:alphaModFix/>
          </a:blip>
          <a:stretch>
            <a:fillRect/>
          </a:stretch>
        </p:blipFill>
        <p:spPr>
          <a:xfrm>
            <a:off x="6779150" y="1439875"/>
            <a:ext cx="3041476" cy="3557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0"/>
          <p:cNvSpPr txBox="1">
            <a:spLocks noGrp="1"/>
          </p:cNvSpPr>
          <p:nvPr>
            <p:ph type="title"/>
          </p:nvPr>
        </p:nvSpPr>
        <p:spPr>
          <a:xfrm>
            <a:off x="894950" y="365125"/>
            <a:ext cx="10515600" cy="11013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Arial"/>
                <a:ea typeface="Arial"/>
                <a:cs typeface="Arial"/>
                <a:sym typeface="Arial"/>
              </a:rPr>
              <a:t>Result analysis with charts:</a:t>
            </a:r>
            <a:endParaRPr sz="3200"/>
          </a:p>
        </p:txBody>
      </p:sp>
      <p:sp>
        <p:nvSpPr>
          <p:cNvPr id="239" name="Google Shape;239;p30"/>
          <p:cNvSpPr txBox="1">
            <a:spLocks noGrp="1"/>
          </p:cNvSpPr>
          <p:nvPr>
            <p:ph type="body" idx="1"/>
          </p:nvPr>
        </p:nvSpPr>
        <p:spPr>
          <a:xfrm>
            <a:off x="1545210" y="1740784"/>
            <a:ext cx="10515600" cy="4351200"/>
          </a:xfrm>
          <a:prstGeom prst="rect">
            <a:avLst/>
          </a:prstGeom>
        </p:spPr>
        <p:txBody>
          <a:bodyPr spcFirstLastPara="1" wrap="square" lIns="91425" tIns="45700" rIns="91425" bIns="45700" anchor="t" anchorCtr="0">
            <a:normAutofit/>
          </a:bodyPr>
          <a:lstStyle/>
          <a:p>
            <a:pPr marL="457200" lvl="0" indent="0" algn="l" rtl="0">
              <a:lnSpc>
                <a:spcPct val="115000"/>
              </a:lnSpc>
              <a:spcBef>
                <a:spcPts val="1000"/>
              </a:spcBef>
              <a:spcAft>
                <a:spcPts val="0"/>
              </a:spcAft>
              <a:buNone/>
            </a:pPr>
            <a:r>
              <a:rPr lang="en-US" sz="1800" b="1" dirty="0">
                <a:latin typeface="Times New Roman"/>
                <a:ea typeface="Times New Roman"/>
                <a:cs typeface="Times New Roman"/>
                <a:sym typeface="Times New Roman"/>
              </a:rPr>
              <a:t>                                                                     Total Triangle Count:</a:t>
            </a:r>
            <a:r>
              <a:rPr lang="en-US" sz="1800" dirty="0">
                <a:latin typeface="Times New Roman"/>
                <a:ea typeface="Times New Roman"/>
                <a:cs typeface="Times New Roman"/>
                <a:sym typeface="Times New Roman"/>
              </a:rPr>
              <a:t> 1,500 triangles (450 + 300 + 525 +                                                      v                                                                                                         225).    </a:t>
            </a:r>
            <a:endParaRPr sz="1800" dirty="0">
              <a:latin typeface="Times New Roman"/>
              <a:ea typeface="Times New Roman"/>
              <a:cs typeface="Times New Roman"/>
              <a:sym typeface="Times New Roman"/>
            </a:endParaRPr>
          </a:p>
          <a:p>
            <a:pPr marL="457200" lvl="0" indent="0" algn="l" rtl="0">
              <a:lnSpc>
                <a:spcPct val="115000"/>
              </a:lnSpc>
              <a:spcBef>
                <a:spcPts val="1000"/>
              </a:spcBef>
              <a:spcAft>
                <a:spcPts val="0"/>
              </a:spcAft>
              <a:buNone/>
            </a:pPr>
            <a:r>
              <a:rPr lang="en-US" sz="1800" dirty="0">
                <a:latin typeface="Times New Roman"/>
                <a:ea typeface="Times New Roman"/>
                <a:cs typeface="Times New Roman"/>
                <a:sym typeface="Times New Roman"/>
              </a:rPr>
              <a:t>                                                                      </a:t>
            </a:r>
            <a:r>
              <a:rPr lang="en-US" sz="1800" b="1" dirty="0">
                <a:latin typeface="Times New Roman"/>
                <a:ea typeface="Times New Roman"/>
                <a:cs typeface="Times New Roman"/>
                <a:sym typeface="Times New Roman"/>
              </a:rPr>
              <a:t>X-Axis :</a:t>
            </a:r>
            <a:r>
              <a:rPr lang="en-US" sz="1800" dirty="0">
                <a:latin typeface="Times New Roman"/>
                <a:ea typeface="Times New Roman"/>
                <a:cs typeface="Times New Roman"/>
                <a:sym typeface="Times New Roman"/>
              </a:rPr>
              <a:t> colors</a:t>
            </a:r>
            <a:endParaRPr sz="1800" dirty="0">
              <a:latin typeface="Times New Roman"/>
              <a:ea typeface="Times New Roman"/>
              <a:cs typeface="Times New Roman"/>
              <a:sym typeface="Times New Roman"/>
            </a:endParaRPr>
          </a:p>
          <a:p>
            <a:pPr marL="457200" lvl="0" indent="0" algn="l" rtl="0">
              <a:lnSpc>
                <a:spcPct val="115000"/>
              </a:lnSpc>
              <a:spcBef>
                <a:spcPts val="1000"/>
              </a:spcBef>
              <a:spcAft>
                <a:spcPts val="1000"/>
              </a:spcAft>
              <a:buNone/>
            </a:pPr>
            <a:r>
              <a:rPr lang="en-US" sz="1800" dirty="0">
                <a:latin typeface="Times New Roman"/>
                <a:ea typeface="Times New Roman"/>
                <a:cs typeface="Times New Roman"/>
                <a:sym typeface="Times New Roman"/>
              </a:rPr>
              <a:t>                                                                      </a:t>
            </a:r>
            <a:r>
              <a:rPr lang="en-US" sz="1800" b="1" dirty="0">
                <a:latin typeface="Times New Roman"/>
                <a:ea typeface="Times New Roman"/>
                <a:cs typeface="Times New Roman"/>
                <a:sym typeface="Times New Roman"/>
              </a:rPr>
              <a:t>Y-Axis : </a:t>
            </a:r>
            <a:r>
              <a:rPr lang="en-US" sz="1800" dirty="0">
                <a:latin typeface="Times New Roman"/>
                <a:ea typeface="Times New Roman"/>
                <a:cs typeface="Times New Roman"/>
                <a:sym typeface="Times New Roman"/>
              </a:rPr>
              <a:t>Triangle count     </a:t>
            </a:r>
            <a:endParaRPr sz="1800" dirty="0">
              <a:latin typeface="Times New Roman"/>
              <a:ea typeface="Times New Roman"/>
              <a:cs typeface="Times New Roman"/>
              <a:sym typeface="Times New Roman"/>
            </a:endParaRPr>
          </a:p>
        </p:txBody>
      </p:sp>
      <p:pic>
        <p:nvPicPr>
          <p:cNvPr id="240" name="Google Shape;240;p30"/>
          <p:cNvPicPr preferRelativeResize="0"/>
          <p:nvPr/>
        </p:nvPicPr>
        <p:blipFill>
          <a:blip r:embed="rId3">
            <a:alphaModFix/>
          </a:blip>
          <a:stretch>
            <a:fillRect/>
          </a:stretch>
        </p:blipFill>
        <p:spPr>
          <a:xfrm>
            <a:off x="330093" y="1641440"/>
            <a:ext cx="5438775" cy="4333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200" b="1">
                <a:latin typeface="Arial"/>
                <a:ea typeface="Arial"/>
                <a:cs typeface="Arial"/>
                <a:sym typeface="Arial"/>
              </a:rPr>
              <a:t>Result analysis with charts:</a:t>
            </a:r>
            <a:endParaRPr/>
          </a:p>
        </p:txBody>
      </p:sp>
      <p:sp>
        <p:nvSpPr>
          <p:cNvPr id="247" name="Google Shape;247;p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dirty="0"/>
          </a:p>
          <a:p>
            <a:pPr marL="0" lvl="0" indent="0" algn="l" rtl="0">
              <a:spcBef>
                <a:spcPts val="1000"/>
              </a:spcBef>
              <a:spcAft>
                <a:spcPts val="0"/>
              </a:spcAft>
              <a:buNone/>
            </a:pPr>
            <a:endParaRPr dirty="0"/>
          </a:p>
          <a:p>
            <a:pPr marL="0" lvl="0" indent="0" algn="l" rtl="0">
              <a:spcBef>
                <a:spcPts val="1000"/>
              </a:spcBef>
              <a:spcAft>
                <a:spcPts val="0"/>
              </a:spcAft>
              <a:buNone/>
            </a:pPr>
            <a:r>
              <a:rPr lang="en-US" sz="1800" dirty="0">
                <a:latin typeface="Times New Roman"/>
                <a:ea typeface="Times New Roman"/>
                <a:cs typeface="Times New Roman"/>
                <a:sym typeface="Times New Roman"/>
              </a:rPr>
              <a:t>                                                                                      The relationship between Triangle Size (X-axis) and Total                                                s                                                                                     Pyraminx Units (Y-axis).</a:t>
            </a:r>
            <a:endParaRPr sz="1800" dirty="0">
              <a:latin typeface="Times New Roman"/>
              <a:ea typeface="Times New Roman"/>
              <a:cs typeface="Times New Roman"/>
              <a:sym typeface="Times New Roman"/>
            </a:endParaRPr>
          </a:p>
          <a:p>
            <a:pPr marL="0" lvl="0" indent="0" algn="l" rtl="0">
              <a:spcBef>
                <a:spcPts val="1000"/>
              </a:spcBef>
              <a:spcAft>
                <a:spcPts val="0"/>
              </a:spcAft>
              <a:buNone/>
            </a:pPr>
            <a:r>
              <a:rPr lang="en-US" dirty="0"/>
              <a:t>                                                                                    </a:t>
            </a:r>
            <a:endParaRPr sz="1800" dirty="0"/>
          </a:p>
        </p:txBody>
      </p:sp>
      <p:pic>
        <p:nvPicPr>
          <p:cNvPr id="248" name="Google Shape;248;p31"/>
          <p:cNvPicPr preferRelativeResize="0"/>
          <p:nvPr/>
        </p:nvPicPr>
        <p:blipFill>
          <a:blip r:embed="rId3">
            <a:alphaModFix/>
          </a:blip>
          <a:stretch>
            <a:fillRect/>
          </a:stretch>
        </p:blipFill>
        <p:spPr>
          <a:xfrm>
            <a:off x="172813" y="1538100"/>
            <a:ext cx="5610225" cy="4333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2"/>
          <p:cNvSpPr txBox="1">
            <a:spLocks noGrp="1"/>
          </p:cNvSpPr>
          <p:nvPr>
            <p:ph type="title"/>
          </p:nvPr>
        </p:nvSpPr>
        <p:spPr>
          <a:xfrm>
            <a:off x="696300" y="875925"/>
            <a:ext cx="10515600" cy="7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sz="3200" b="1">
                <a:latin typeface="Times New Roman"/>
                <a:ea typeface="Times New Roman"/>
                <a:cs typeface="Times New Roman"/>
                <a:sym typeface="Times New Roman"/>
              </a:rPr>
              <a:t>  Conclusion and Future work:</a:t>
            </a:r>
            <a:endParaRPr/>
          </a:p>
        </p:txBody>
      </p:sp>
      <p:sp>
        <p:nvSpPr>
          <p:cNvPr id="255" name="Google Shape;255;p3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Font typeface="Times New Roman"/>
              <a:buChar char="•"/>
            </a:pPr>
            <a:r>
              <a:rPr lang="en-US" sz="1800">
                <a:latin typeface="Times New Roman"/>
                <a:ea typeface="Times New Roman"/>
                <a:cs typeface="Times New Roman"/>
                <a:sym typeface="Times New Roman"/>
              </a:rPr>
              <a:t> the gap between digital design and physical construction, allowing artists to manage the assembly of hundreds of puzzles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 The project successfully demonstrates that high-fidelity mosaic art is possible under extreme constraints by utilizing CIEDE2000 perceptual color science and 70/30 edge-aware sampling, ensuring that the soul and structural integrity of an image are preserved even when reduced to a 4-color triangular grid.</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Planned upgrades include implementing GPU acceleration to handle 4K image processing in real-time and integrating machine learning models to intelligently prioritize facial features and textures, further improving recognizability at very low resolutions.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Future versions will expand the system's modularity to support additional puzzle types, such as the standard 6-color Rubik’s Cube and the complex 12-color Megaminx, transforming the generator into a universal suite for all types of twisty-puzzle installations.</a:t>
            </a:r>
            <a:endParaRPr sz="1800">
              <a:latin typeface="Times New Roman"/>
              <a:ea typeface="Times New Roman"/>
              <a:cs typeface="Times New Roman"/>
              <a:sym typeface="Times New Roman"/>
            </a:endParaRPr>
          </a:p>
          <a:p>
            <a:pPr marL="457200" lvl="0" indent="0" algn="l" rtl="0">
              <a:spcBef>
                <a:spcPts val="1000"/>
              </a:spcBef>
              <a:spcAft>
                <a:spcPts val="0"/>
              </a:spcAft>
              <a:buNone/>
            </a:pPr>
            <a:endParaRPr sz="18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3"/>
          <p:cNvSpPr txBox="1">
            <a:spLocks noGrp="1"/>
          </p:cNvSpPr>
          <p:nvPr>
            <p:ph type="title"/>
          </p:nvPr>
        </p:nvSpPr>
        <p:spPr>
          <a:xfrm>
            <a:off x="838200" y="191389"/>
            <a:ext cx="10515600" cy="9150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US" sz="3600">
                <a:latin typeface="Times New Roman"/>
                <a:ea typeface="Times New Roman"/>
                <a:cs typeface="Times New Roman"/>
                <a:sym typeface="Times New Roman"/>
              </a:rPr>
              <a:t>References:</a:t>
            </a:r>
            <a:endParaRPr sz="3600">
              <a:latin typeface="Times New Roman"/>
              <a:ea typeface="Times New Roman"/>
              <a:cs typeface="Times New Roman"/>
              <a:sym typeface="Times New Roman"/>
            </a:endParaRPr>
          </a:p>
        </p:txBody>
      </p:sp>
      <p:sp>
        <p:nvSpPr>
          <p:cNvPr id="261" name="Google Shape;261;p33"/>
          <p:cNvSpPr txBox="1">
            <a:spLocks noGrp="1"/>
          </p:cNvSpPr>
          <p:nvPr>
            <p:ph type="body" idx="1"/>
          </p:nvPr>
        </p:nvSpPr>
        <p:spPr>
          <a:xfrm>
            <a:off x="838200" y="1184086"/>
            <a:ext cx="10515600" cy="4825365"/>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2000"/>
              <a:buNone/>
            </a:pPr>
            <a:r>
              <a:rPr lang="en-US" sz="2000">
                <a:latin typeface="Times New Roman"/>
                <a:ea typeface="Times New Roman"/>
                <a:cs typeface="Times New Roman"/>
                <a:sym typeface="Times New Roman"/>
              </a:rPr>
              <a:t>[1] Doyle, L., Anderson, F., Choy, E., &amp; Mould, D. “Automated pebble mosaic Stylization of images.” arXiv preprint arXiv : 1902.02806 (2019).</a:t>
            </a:r>
            <a:endParaRPr sz="200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000"/>
              <a:buNone/>
            </a:pP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[2] Zeng, D.-X., Li, M., Wang, J.-J., Hou, Y.-L., Lu, W.-J., &amp; Huang, Z. “Overview of Rubik’s Cube and Reflections on Its Application in Mechanism.” Chin. J. Mech. Eng. 31, 77 (2018).</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marL="0" lvl="0" indent="0" algn="just" rtl="0">
              <a:lnSpc>
                <a:spcPct val="90000"/>
              </a:lnSpc>
              <a:spcBef>
                <a:spcPts val="1000"/>
              </a:spcBef>
              <a:spcAft>
                <a:spcPts val="0"/>
              </a:spcAft>
              <a:buClr>
                <a:srgbClr val="222222"/>
              </a:buClr>
              <a:buSzPts val="2000"/>
              <a:buNone/>
            </a:pPr>
            <a:r>
              <a:rPr lang="en-US" sz="2000" i="0">
                <a:solidFill>
                  <a:srgbClr val="222222"/>
                </a:solidFill>
                <a:latin typeface="Times New Roman"/>
                <a:ea typeface="Times New Roman"/>
                <a:cs typeface="Times New Roman"/>
                <a:sym typeface="Times New Roman"/>
              </a:rPr>
              <a:t>[3]</a:t>
            </a:r>
            <a:r>
              <a:rPr lang="en-US" sz="2000">
                <a:latin typeface="Times New Roman"/>
                <a:ea typeface="Times New Roman"/>
                <a:cs typeface="Times New Roman"/>
                <a:sym typeface="Times New Roman"/>
              </a:rPr>
              <a:t> Mazaika Photomosaic Software, 2018. Available at:</a:t>
            </a:r>
            <a:r>
              <a:rPr lang="en-US" sz="2000">
                <a:uFill>
                  <a:noFill/>
                </a:uFill>
                <a:latin typeface="Times New Roman"/>
                <a:ea typeface="Times New Roman"/>
                <a:cs typeface="Times New Roman"/>
                <a:sym typeface="Times New Roman"/>
                <a:hlinkClick r:id="rId3"/>
              </a:rPr>
              <a:t> </a:t>
            </a:r>
            <a:r>
              <a:rPr lang="en-US" sz="2000" u="sng">
                <a:solidFill>
                  <a:srgbClr val="0563C1"/>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http://www.mazaika.com/</a:t>
            </a:r>
            <a:endParaRPr sz="2000" u="sng">
              <a:solidFill>
                <a:srgbClr val="0563C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just"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[4] 	He, Y., Zhou, J., &amp; Yuen, S. Y. “ composing photomosaic images using clustering-based evolutionary programming . “ arXiv preprint arXiv:1804.02827 (2018)</a:t>
            </a:r>
            <a:r>
              <a:rPr lang="en-US" sz="2000">
                <a:solidFill>
                  <a:srgbClr val="222222"/>
                </a:solidFill>
                <a:latin typeface="Times New Roman"/>
                <a:ea typeface="Times New Roman"/>
                <a:cs typeface="Times New Roman"/>
                <a:sym typeface="Times New Roman"/>
              </a:rPr>
              <a:t> .</a:t>
            </a:r>
            <a:endParaRPr sz="2000">
              <a:solidFill>
                <a:srgbClr val="222222"/>
              </a:solidFill>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000"/>
              <a:buNone/>
            </a:pP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[5] N. Nachev, U. Bergmann, and C. Seward, “GANosaic: Mosaic creation with generative texture manifolds,” in Proceedings of the 31st Conference on Neural Information Processing Systems (NIPS) – Workshop on Machine Learning for Creativity and Design, 2017.</a:t>
            </a:r>
            <a:endParaRPr sz="2000">
              <a:latin typeface="Times New Roman"/>
              <a:ea typeface="Times New Roman"/>
              <a:cs typeface="Times New Roman"/>
              <a:sym typeface="Times New Roman"/>
            </a:endParaRPr>
          </a:p>
          <a:p>
            <a:pPr marL="0" lvl="0" indent="0" algn="l" rtl="0">
              <a:spcBef>
                <a:spcPts val="1000"/>
              </a:spcBef>
              <a:spcAft>
                <a:spcPts val="0"/>
              </a:spcAft>
              <a:buClr>
                <a:schemeClr val="dk1"/>
              </a:buClr>
              <a:buSzPts val="1100"/>
              <a:buFont typeface="Arial"/>
              <a:buNone/>
            </a:pPr>
            <a:endParaRPr sz="200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600">
                <a:latin typeface="Times New Roman"/>
                <a:ea typeface="Times New Roman"/>
                <a:cs typeface="Times New Roman"/>
                <a:sym typeface="Times New Roman"/>
              </a:rPr>
              <a:t>References:</a:t>
            </a:r>
            <a:endParaRPr sz="3600" b="1">
              <a:latin typeface="Arial"/>
              <a:ea typeface="Arial"/>
              <a:cs typeface="Arial"/>
              <a:sym typeface="Arial"/>
            </a:endParaRPr>
          </a:p>
        </p:txBody>
      </p:sp>
      <p:sp>
        <p:nvSpPr>
          <p:cNvPr id="268" name="Google Shape;268;p34"/>
          <p:cNvSpPr txBox="1">
            <a:spLocks noGrp="1"/>
          </p:cNvSpPr>
          <p:nvPr>
            <p:ph type="body" idx="1"/>
          </p:nvPr>
        </p:nvSpPr>
        <p:spPr>
          <a:xfrm>
            <a:off x="875625" y="1797575"/>
            <a:ext cx="10515600" cy="4351200"/>
          </a:xfrm>
          <a:prstGeom prst="rect">
            <a:avLst/>
          </a:prstGeom>
        </p:spPr>
        <p:txBody>
          <a:bodyPr spcFirstLastPara="1" wrap="square" lIns="91425" tIns="45700" rIns="91425" bIns="45700" anchor="t" anchorCtr="0">
            <a:normAutofit/>
          </a:bodyPr>
          <a:lstStyle/>
          <a:p>
            <a:pPr marL="0" marR="159352" lvl="0" indent="0" algn="just" rtl="0">
              <a:spcBef>
                <a:spcPts val="1000"/>
              </a:spcBef>
              <a:spcAft>
                <a:spcPts val="0"/>
              </a:spcAft>
              <a:buNone/>
            </a:pPr>
            <a:r>
              <a:rPr lang="en-US" sz="2000">
                <a:latin typeface="Times New Roman"/>
                <a:ea typeface="Times New Roman"/>
                <a:cs typeface="Times New Roman"/>
                <a:sym typeface="Times New Roman"/>
              </a:rPr>
              <a:t>[6] Jetchev, N., Bergmann, U., &amp; Seward, C. “GANosaic: Mosaic Creation with Generative Texture Manifolds.” 31st Conference on Neural Information processing systems (NIPS) , working on machine learing for creativity and Design (2017) .</a:t>
            </a:r>
            <a:endParaRPr sz="2000">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a:latin typeface="Times New Roman"/>
              <a:ea typeface="Times New Roman"/>
              <a:cs typeface="Times New Roman"/>
              <a:sym typeface="Times New Roman"/>
            </a:endParaRPr>
          </a:p>
          <a:p>
            <a:pPr marL="0" marR="159352" lvl="0" indent="0" algn="just" rtl="0">
              <a:spcBef>
                <a:spcPts val="100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5"/>
          <p:cNvSpPr txBox="1">
            <a:spLocks noGrp="1"/>
          </p:cNvSpPr>
          <p:nvPr>
            <p:ph type="body" idx="1"/>
          </p:nvPr>
        </p:nvSpPr>
        <p:spPr>
          <a:xfrm>
            <a:off x="838200" y="1180465"/>
            <a:ext cx="10515600" cy="499681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a:t>
            </a:r>
            <a:r>
              <a:rPr lang="en-US" sz="6600">
                <a:latin typeface="Times New Roman"/>
                <a:ea typeface="Times New Roman"/>
                <a:cs typeface="Times New Roman"/>
                <a:sym typeface="Times New Roman"/>
              </a:rPr>
              <a:t>Thank You</a:t>
            </a:r>
            <a:endParaRPr sz="66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2266</Words>
  <Application>Microsoft Office PowerPoint</Application>
  <PresentationFormat>Widescreen</PresentationFormat>
  <Paragraphs>234</Paragraphs>
  <Slides>23</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          Mosaic Art Using Pyraminx: Patterns and Symmetry                                                                       computer vision </vt:lpstr>
      <vt:lpstr>   Agenda:</vt:lpstr>
      <vt:lpstr>Introduction and Problem Statement</vt:lpstr>
      <vt:lpstr>Introduction and Problem Statement</vt:lpstr>
      <vt:lpstr>Objectives and Outcomes:</vt:lpstr>
      <vt:lpstr>Literature Survey:</vt:lpstr>
      <vt:lpstr>PowerPoint Presentation</vt:lpstr>
      <vt:lpstr>Dataset and requirement specifications:</vt:lpstr>
      <vt:lpstr>Algorithms used in the Project:</vt:lpstr>
      <vt:lpstr>Algorithms used in the Project:</vt:lpstr>
      <vt:lpstr>Algorithms used in the Project:</vt:lpstr>
      <vt:lpstr>Algorithms used in the Project:</vt:lpstr>
      <vt:lpstr>Architecture diagram: </vt:lpstr>
      <vt:lpstr>Implementation steps and Execution:</vt:lpstr>
      <vt:lpstr>Implementation steps and Execution:</vt:lpstr>
      <vt:lpstr>Results Obtained:</vt:lpstr>
      <vt:lpstr>Results Obtained:</vt:lpstr>
      <vt:lpstr>Result analysis with charts:</vt:lpstr>
      <vt:lpstr>Result analysis with charts:</vt:lpstr>
      <vt:lpstr>  Conclusion and Future work:</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Mosaic Art Using Pyraminx: Patterns and Symmetry                                                                       computer vision </dc:title>
  <cp:lastModifiedBy>shanmukha akhil</cp:lastModifiedBy>
  <cp:revision>2</cp:revision>
  <dcterms:modified xsi:type="dcterms:W3CDTF">2026-04-19T14:51:23Z</dcterms:modified>
</cp:coreProperties>
</file>